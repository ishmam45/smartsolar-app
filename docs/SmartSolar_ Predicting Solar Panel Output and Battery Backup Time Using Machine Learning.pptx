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6858000" cy="9144000"/>
  <p:embeddedFontLst>
    <p:embeddedFont>
      <p:font typeface="Quicksand" panose="020B0604020202020204" charset="0"/>
      <p:regular r:id="rId28"/>
      <p:bold r:id="rId29"/>
    </p:embeddedFont>
    <p:embeddedFont>
      <p:font typeface="Quicksand SemiBold" panose="020B0604020202020204" charset="0"/>
      <p:regular r:id="rId30"/>
      <p:bold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20">
          <p15:clr>
            <a:srgbClr val="747775"/>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1655F76-E95F-4D1A-90EE-E8038F89BB30}">
  <a:tblStyle styleId="{01655F76-E95F-4D1A-90EE-E8038F89BB3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32" d="100"/>
          <a:sy n="132" d="100"/>
        </p:scale>
        <p:origin x="912" y="96"/>
      </p:cViewPr>
      <p:guideLst>
        <p:guide orient="horz" pos="10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de4fd59ac4_0_1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de4fd59ac4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de4fd59ac4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de4fd59ac4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de4fd59ac4_0_1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de4fd59ac4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de5a3b4ff3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de5a3b4ff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de5da011fc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de5da011f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de5da011fc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de5da011fc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de4fd59ac4_0_2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de4fd59ac4_0_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de4fd59ac4_0_2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de4fd59ac4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de5a3b4ff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de5a3b4ff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de5da011fc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de5da011fc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de7c17a231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de7c17a231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de5da011fc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de5da011fc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de7c17a231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de7c17a231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deba5871f8_2_2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deba5871f8_2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de7c17a231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de7c17a231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deba5871f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deba5871f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deba5871f8_2_2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deba5871f8_2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deba5871f8_2_2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3deba5871f8_2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deba5871f8_2_3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deba5871f8_2_3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deba5871f8_2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deba5871f8_2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deac5fcb1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deac5fcb1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deac5fcb14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deac5fcb1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deba5871f8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3deba5871f8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dec6cfd18d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3dec6cfd18d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8.gif"/></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9.jp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8.gif"/></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sp>
        <p:nvSpPr>
          <p:cNvPr id="55" name="Google Shape;55;p13"/>
          <p:cNvSpPr txBox="1">
            <a:spLocks noGrp="1"/>
          </p:cNvSpPr>
          <p:nvPr>
            <p:ph type="ctrTitle"/>
          </p:nvPr>
        </p:nvSpPr>
        <p:spPr>
          <a:xfrm>
            <a:off x="1309975" y="168750"/>
            <a:ext cx="7265100" cy="1005000"/>
          </a:xfrm>
          <a:prstGeom prst="rect">
            <a:avLst/>
          </a:prstGeom>
        </p:spPr>
        <p:txBody>
          <a:bodyPr spcFirstLastPara="1" wrap="square" lIns="91425" tIns="91425" rIns="91425" bIns="91425" anchor="b" anchorCtr="0">
            <a:normAutofit/>
          </a:bodyPr>
          <a:lstStyle/>
          <a:p>
            <a:pPr marL="0" lvl="0" indent="0" algn="l" rtl="0">
              <a:lnSpc>
                <a:spcPct val="115000"/>
              </a:lnSpc>
              <a:spcBef>
                <a:spcPts val="1200"/>
              </a:spcBef>
              <a:spcAft>
                <a:spcPts val="1200"/>
              </a:spcAft>
              <a:buClr>
                <a:schemeClr val="dk1"/>
              </a:buClr>
              <a:buSzPts val="1100"/>
              <a:buFont typeface="Arial"/>
              <a:buNone/>
            </a:pPr>
            <a:r>
              <a:rPr lang="en-GB" sz="2400" b="1">
                <a:latin typeface="Quicksand"/>
                <a:ea typeface="Quicksand"/>
                <a:cs typeface="Quicksand"/>
                <a:sym typeface="Quicksand"/>
              </a:rPr>
              <a:t>SmartSolar: Predicting Solar Panel Output and Battery Backup Time Using Machine Learning</a:t>
            </a:r>
            <a:endParaRPr/>
          </a:p>
        </p:txBody>
      </p:sp>
      <p:pic>
        <p:nvPicPr>
          <p:cNvPr id="56" name="Google Shape;56;p13" title="—Pngtree—eco-friendly solar panel clipart for_15644430.png"/>
          <p:cNvPicPr preferRelativeResize="0"/>
          <p:nvPr/>
        </p:nvPicPr>
        <p:blipFill>
          <a:blip r:embed="rId4">
            <a:alphaModFix/>
          </a:blip>
          <a:stretch>
            <a:fillRect/>
          </a:stretch>
        </p:blipFill>
        <p:spPr>
          <a:xfrm>
            <a:off x="432950" y="1658450"/>
            <a:ext cx="4092749" cy="3485051"/>
          </a:xfrm>
          <a:prstGeom prst="rect">
            <a:avLst/>
          </a:prstGeom>
          <a:noFill/>
          <a:ln>
            <a:noFill/>
          </a:ln>
        </p:spPr>
      </p:pic>
      <p:pic>
        <p:nvPicPr>
          <p:cNvPr id="57" name="Google Shape;57;p13"/>
          <p:cNvPicPr preferRelativeResize="0"/>
          <p:nvPr/>
        </p:nvPicPr>
        <p:blipFill>
          <a:blip r:embed="rId5">
            <a:alphaModFix/>
          </a:blip>
          <a:stretch>
            <a:fillRect/>
          </a:stretch>
        </p:blipFill>
        <p:spPr>
          <a:xfrm>
            <a:off x="0" y="0"/>
            <a:ext cx="1350175" cy="1118700"/>
          </a:xfrm>
          <a:prstGeom prst="rect">
            <a:avLst/>
          </a:prstGeom>
          <a:noFill/>
          <a:ln>
            <a:noFill/>
          </a:ln>
        </p:spPr>
      </p:pic>
      <p:pic>
        <p:nvPicPr>
          <p:cNvPr id="58" name="Google Shape;58;p13" title="—Pngtree—solar panels vector_11069616.png"/>
          <p:cNvPicPr preferRelativeResize="0"/>
          <p:nvPr/>
        </p:nvPicPr>
        <p:blipFill>
          <a:blip r:embed="rId6">
            <a:alphaModFix/>
          </a:blip>
          <a:stretch>
            <a:fillRect/>
          </a:stretch>
        </p:blipFill>
        <p:spPr>
          <a:xfrm>
            <a:off x="5341725" y="1417100"/>
            <a:ext cx="3802276" cy="3802276"/>
          </a:xfrm>
          <a:prstGeom prst="rect">
            <a:avLst/>
          </a:prstGeom>
          <a:noFill/>
          <a:ln>
            <a:noFill/>
          </a:ln>
        </p:spPr>
      </p:pic>
      <p:sp>
        <p:nvSpPr>
          <p:cNvPr id="59" name="Google Shape;59;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pic>
        <p:nvPicPr>
          <p:cNvPr id="64" name="Google Shape;64;p14"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sp>
        <p:nvSpPr>
          <p:cNvPr id="65" name="Google Shape;65;p14"/>
          <p:cNvSpPr txBox="1">
            <a:spLocks noGrp="1"/>
          </p:cNvSpPr>
          <p:nvPr>
            <p:ph type="title"/>
          </p:nvPr>
        </p:nvSpPr>
        <p:spPr>
          <a:xfrm>
            <a:off x="3042000" y="224850"/>
            <a:ext cx="23988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6667"/>
              <a:buFont typeface="Arial"/>
              <a:buNone/>
            </a:pPr>
            <a:r>
              <a:rPr lang="en-GB" sz="3000" b="1">
                <a:latin typeface="Quicksand"/>
                <a:ea typeface="Quicksand"/>
                <a:cs typeface="Quicksand"/>
                <a:sym typeface="Quicksand"/>
              </a:rPr>
              <a:t>Presented By</a:t>
            </a:r>
            <a:endParaRPr/>
          </a:p>
        </p:txBody>
      </p:sp>
      <p:sp>
        <p:nvSpPr>
          <p:cNvPr id="66" name="Google Shape;66;p14"/>
          <p:cNvSpPr txBox="1">
            <a:spLocks noGrp="1"/>
          </p:cNvSpPr>
          <p:nvPr>
            <p:ph type="body" idx="1"/>
          </p:nvPr>
        </p:nvSpPr>
        <p:spPr>
          <a:xfrm>
            <a:off x="668900" y="1152475"/>
            <a:ext cx="4317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GB" sz="2200" b="1">
                <a:solidFill>
                  <a:schemeClr val="dk1"/>
                </a:solidFill>
                <a:latin typeface="Quicksand"/>
                <a:ea typeface="Quicksand"/>
                <a:cs typeface="Quicksand"/>
                <a:sym typeface="Quicksand"/>
              </a:rPr>
              <a:t>Name:</a:t>
            </a:r>
            <a:endParaRPr sz="2200" b="1">
              <a:solidFill>
                <a:schemeClr val="dk1"/>
              </a:solidFill>
              <a:latin typeface="Quicksand"/>
              <a:ea typeface="Quicksand"/>
              <a:cs typeface="Quicksand"/>
              <a:sym typeface="Quicksand"/>
            </a:endParaRPr>
          </a:p>
          <a:p>
            <a:pPr marL="0" lvl="0" indent="0" algn="l" rtl="0">
              <a:spcBef>
                <a:spcPts val="0"/>
              </a:spcBef>
              <a:spcAft>
                <a:spcPts val="0"/>
              </a:spcAft>
              <a:buClr>
                <a:schemeClr val="dk1"/>
              </a:buClr>
              <a:buSzPts val="1100"/>
              <a:buFont typeface="Arial"/>
              <a:buNone/>
            </a:pPr>
            <a:r>
              <a:rPr lang="en-GB" sz="2300">
                <a:solidFill>
                  <a:schemeClr val="dk1"/>
                </a:solidFill>
                <a:latin typeface="Quicksand"/>
                <a:ea typeface="Quicksand"/>
                <a:cs typeface="Quicksand"/>
                <a:sym typeface="Quicksand"/>
              </a:rPr>
              <a:t>Mishal Ibna Mashud</a:t>
            </a:r>
            <a:endParaRPr sz="2300">
              <a:solidFill>
                <a:schemeClr val="dk1"/>
              </a:solidFill>
              <a:latin typeface="Quicksand"/>
              <a:ea typeface="Quicksand"/>
              <a:cs typeface="Quicksand"/>
              <a:sym typeface="Quicksand"/>
            </a:endParaRPr>
          </a:p>
          <a:p>
            <a:pPr marL="0" lvl="0" indent="0" algn="l" rtl="0">
              <a:spcBef>
                <a:spcPts val="0"/>
              </a:spcBef>
              <a:spcAft>
                <a:spcPts val="0"/>
              </a:spcAft>
              <a:buClr>
                <a:schemeClr val="dk1"/>
              </a:buClr>
              <a:buSzPts val="1100"/>
              <a:buFont typeface="Arial"/>
              <a:buNone/>
            </a:pPr>
            <a:r>
              <a:rPr lang="en-GB" sz="2300">
                <a:solidFill>
                  <a:schemeClr val="dk1"/>
                </a:solidFill>
                <a:latin typeface="Quicksand"/>
                <a:ea typeface="Quicksand"/>
                <a:cs typeface="Quicksand"/>
                <a:sym typeface="Quicksand"/>
              </a:rPr>
              <a:t>Mohammad Sadiullah Ishmam Md Nasibul Islam Sazid</a:t>
            </a:r>
            <a:br>
              <a:rPr lang="en-GB" sz="2300">
                <a:solidFill>
                  <a:schemeClr val="dk1"/>
                </a:solidFill>
                <a:latin typeface="Quicksand"/>
                <a:ea typeface="Quicksand"/>
                <a:cs typeface="Quicksand"/>
                <a:sym typeface="Quicksand"/>
              </a:rPr>
            </a:br>
            <a:r>
              <a:rPr lang="en-GB" sz="2300">
                <a:solidFill>
                  <a:schemeClr val="dk1"/>
                </a:solidFill>
                <a:latin typeface="Quicksand"/>
                <a:ea typeface="Quicksand"/>
                <a:cs typeface="Quicksand"/>
                <a:sym typeface="Quicksand"/>
              </a:rPr>
              <a:t>Syeda Sayma Sultana</a:t>
            </a:r>
            <a:endParaRPr>
              <a:solidFill>
                <a:schemeClr val="dk1"/>
              </a:solidFill>
              <a:latin typeface="Quicksand"/>
              <a:ea typeface="Quicksand"/>
              <a:cs typeface="Quicksand"/>
              <a:sym typeface="Quicksand"/>
            </a:endParaRPr>
          </a:p>
        </p:txBody>
      </p:sp>
      <p:sp>
        <p:nvSpPr>
          <p:cNvPr id="67" name="Google Shape;67;p14"/>
          <p:cNvSpPr txBox="1"/>
          <p:nvPr/>
        </p:nvSpPr>
        <p:spPr>
          <a:xfrm>
            <a:off x="5440800" y="1152475"/>
            <a:ext cx="3045900" cy="2467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sz="2200" b="1">
                <a:solidFill>
                  <a:schemeClr val="dk1"/>
                </a:solidFill>
                <a:latin typeface="Quicksand"/>
                <a:ea typeface="Quicksand"/>
                <a:cs typeface="Quicksand"/>
                <a:sym typeface="Quicksand"/>
              </a:rPr>
              <a:t>ID:</a:t>
            </a:r>
            <a:endParaRPr sz="2200" b="1">
              <a:solidFill>
                <a:schemeClr val="dk1"/>
              </a:solidFill>
              <a:latin typeface="Quicksand"/>
              <a:ea typeface="Quicksand"/>
              <a:cs typeface="Quicksand"/>
              <a:sym typeface="Quicksand"/>
            </a:endParaRPr>
          </a:p>
          <a:p>
            <a:pPr marL="0" lvl="0" indent="0" algn="l" rtl="0">
              <a:lnSpc>
                <a:spcPct val="115000"/>
              </a:lnSpc>
              <a:spcBef>
                <a:spcPts val="0"/>
              </a:spcBef>
              <a:spcAft>
                <a:spcPts val="0"/>
              </a:spcAft>
              <a:buClr>
                <a:schemeClr val="dk1"/>
              </a:buClr>
              <a:buSzPts val="1100"/>
              <a:buFont typeface="Arial"/>
              <a:buNone/>
            </a:pPr>
            <a:r>
              <a:rPr lang="en-GB" sz="2300">
                <a:solidFill>
                  <a:schemeClr val="dk1"/>
                </a:solidFill>
                <a:latin typeface="Quicksand"/>
                <a:ea typeface="Quicksand"/>
                <a:cs typeface="Quicksand"/>
                <a:sym typeface="Quicksand"/>
              </a:rPr>
              <a:t>2022-3-60-053</a:t>
            </a:r>
            <a:endParaRPr sz="2300">
              <a:solidFill>
                <a:schemeClr val="dk1"/>
              </a:solidFill>
              <a:latin typeface="Quicksand"/>
              <a:ea typeface="Quicksand"/>
              <a:cs typeface="Quicksand"/>
              <a:sym typeface="Quicksand"/>
            </a:endParaRPr>
          </a:p>
          <a:p>
            <a:pPr marL="0" lvl="0" indent="0" algn="l" rtl="0">
              <a:lnSpc>
                <a:spcPct val="115000"/>
              </a:lnSpc>
              <a:spcBef>
                <a:spcPts val="0"/>
              </a:spcBef>
              <a:spcAft>
                <a:spcPts val="0"/>
              </a:spcAft>
              <a:buClr>
                <a:schemeClr val="dk1"/>
              </a:buClr>
              <a:buSzPts val="1100"/>
              <a:buFont typeface="Arial"/>
              <a:buNone/>
            </a:pPr>
            <a:r>
              <a:rPr lang="en-GB" sz="2300">
                <a:solidFill>
                  <a:schemeClr val="dk1"/>
                </a:solidFill>
                <a:latin typeface="Quicksand"/>
                <a:ea typeface="Quicksand"/>
                <a:cs typeface="Quicksand"/>
                <a:sym typeface="Quicksand"/>
              </a:rPr>
              <a:t>2022-3-60-136</a:t>
            </a:r>
            <a:endParaRPr sz="2300">
              <a:solidFill>
                <a:schemeClr val="dk1"/>
              </a:solidFill>
              <a:latin typeface="Quicksand"/>
              <a:ea typeface="Quicksand"/>
              <a:cs typeface="Quicksand"/>
              <a:sym typeface="Quicksand"/>
            </a:endParaRPr>
          </a:p>
          <a:p>
            <a:pPr marL="0" lvl="0" indent="0" algn="l" rtl="0">
              <a:lnSpc>
                <a:spcPct val="115000"/>
              </a:lnSpc>
              <a:spcBef>
                <a:spcPts val="0"/>
              </a:spcBef>
              <a:spcAft>
                <a:spcPts val="0"/>
              </a:spcAft>
              <a:buClr>
                <a:schemeClr val="dk1"/>
              </a:buClr>
              <a:buSzPts val="1100"/>
              <a:buFont typeface="Arial"/>
              <a:buNone/>
            </a:pPr>
            <a:r>
              <a:rPr lang="en-GB" sz="2300">
                <a:solidFill>
                  <a:schemeClr val="dk1"/>
                </a:solidFill>
                <a:latin typeface="Quicksand"/>
                <a:ea typeface="Quicksand"/>
                <a:cs typeface="Quicksand"/>
                <a:sym typeface="Quicksand"/>
              </a:rPr>
              <a:t>2022-3-60-014</a:t>
            </a:r>
            <a:br>
              <a:rPr lang="en-GB" sz="2300">
                <a:solidFill>
                  <a:schemeClr val="dk1"/>
                </a:solidFill>
                <a:latin typeface="Quicksand"/>
                <a:ea typeface="Quicksand"/>
                <a:cs typeface="Quicksand"/>
                <a:sym typeface="Quicksand"/>
              </a:rPr>
            </a:br>
            <a:r>
              <a:rPr lang="en-GB" sz="2300">
                <a:solidFill>
                  <a:schemeClr val="dk1"/>
                </a:solidFill>
                <a:latin typeface="Quicksand"/>
                <a:ea typeface="Quicksand"/>
                <a:cs typeface="Quicksand"/>
                <a:sym typeface="Quicksand"/>
              </a:rPr>
              <a:t>2022-3-60-128</a:t>
            </a:r>
            <a:endParaRPr sz="1800">
              <a:solidFill>
                <a:schemeClr val="dk1"/>
              </a:solidFill>
              <a:latin typeface="Quicksand"/>
              <a:ea typeface="Quicksand"/>
              <a:cs typeface="Quicksand"/>
              <a:sym typeface="Quicksand"/>
            </a:endParaRPr>
          </a:p>
        </p:txBody>
      </p:sp>
      <p:sp>
        <p:nvSpPr>
          <p:cNvPr id="68" name="Google Shape;68;p14"/>
          <p:cNvSpPr/>
          <p:nvPr/>
        </p:nvSpPr>
        <p:spPr>
          <a:xfrm>
            <a:off x="496550" y="4171050"/>
            <a:ext cx="1928700" cy="273300"/>
          </a:xfrm>
          <a:prstGeom prst="roundRect">
            <a:avLst>
              <a:gd name="adj" fmla="val 16667"/>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chemeClr val="lt1"/>
                </a:solidFill>
                <a:latin typeface="Quicksand"/>
                <a:ea typeface="Quicksand"/>
                <a:cs typeface="Quicksand"/>
                <a:sym typeface="Quicksand"/>
              </a:rPr>
              <a:t>16 April 2026</a:t>
            </a:r>
            <a:endParaRPr>
              <a:latin typeface="Quicksand"/>
              <a:ea typeface="Quicksand"/>
              <a:cs typeface="Quicksand"/>
              <a:sym typeface="Quicksand"/>
            </a:endParaRPr>
          </a:p>
        </p:txBody>
      </p:sp>
      <p:pic>
        <p:nvPicPr>
          <p:cNvPr id="69" name="Google Shape;69;p14"/>
          <p:cNvPicPr preferRelativeResize="0"/>
          <p:nvPr/>
        </p:nvPicPr>
        <p:blipFill>
          <a:blip r:embed="rId4">
            <a:alphaModFix/>
          </a:blip>
          <a:stretch>
            <a:fillRect/>
          </a:stretch>
        </p:blipFill>
        <p:spPr>
          <a:xfrm>
            <a:off x="0" y="0"/>
            <a:ext cx="1350175" cy="1118700"/>
          </a:xfrm>
          <a:prstGeom prst="rect">
            <a:avLst/>
          </a:prstGeom>
          <a:noFill/>
          <a:ln>
            <a:noFill/>
          </a:ln>
        </p:spPr>
      </p:pic>
      <p:sp>
        <p:nvSpPr>
          <p:cNvPr id="70" name="Google Shape;70;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pic>
        <p:nvPicPr>
          <p:cNvPr id="75" name="Google Shape;75;p15"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sp>
        <p:nvSpPr>
          <p:cNvPr id="76" name="Google Shape;76;p15"/>
          <p:cNvSpPr txBox="1">
            <a:spLocks noGrp="1"/>
          </p:cNvSpPr>
          <p:nvPr>
            <p:ph type="title"/>
          </p:nvPr>
        </p:nvSpPr>
        <p:spPr>
          <a:xfrm>
            <a:off x="360560" y="256323"/>
            <a:ext cx="6130982" cy="78349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sz="3022" dirty="0">
                <a:latin typeface="Quicksand SemiBold"/>
                <a:ea typeface="Quicksand SemiBold"/>
                <a:cs typeface="Quicksand SemiBold"/>
                <a:sym typeface="Quicksand SemiBold"/>
              </a:rPr>
              <a:t>Introduction and</a:t>
            </a:r>
            <a:r>
              <a:rPr lang="en-GB" dirty="0">
                <a:latin typeface="Quicksand SemiBold"/>
                <a:ea typeface="Quicksand SemiBold"/>
                <a:cs typeface="Quicksand SemiBold"/>
                <a:sym typeface="Quicksand SemiBold"/>
              </a:rPr>
              <a:t> Project Definition</a:t>
            </a:r>
            <a:endParaRPr dirty="0">
              <a:latin typeface="Quicksand SemiBold"/>
              <a:ea typeface="Quicksand SemiBold"/>
              <a:cs typeface="Quicksand SemiBold"/>
              <a:sym typeface="Quicksand SemiBold"/>
            </a:endParaRPr>
          </a:p>
        </p:txBody>
      </p:sp>
      <p:sp>
        <p:nvSpPr>
          <p:cNvPr id="77" name="Google Shape;77;p15"/>
          <p:cNvSpPr txBox="1">
            <a:spLocks noGrp="1"/>
          </p:cNvSpPr>
          <p:nvPr>
            <p:ph type="body" idx="1"/>
          </p:nvPr>
        </p:nvSpPr>
        <p:spPr>
          <a:xfrm>
            <a:off x="122842" y="914170"/>
            <a:ext cx="9010678" cy="4123934"/>
          </a:xfrm>
          <a:prstGeom prst="rect">
            <a:avLst/>
          </a:prstGeom>
        </p:spPr>
        <p:txBody>
          <a:bodyPr spcFirstLastPara="1" wrap="square" lIns="91425" tIns="91425" rIns="91425" bIns="91425" anchor="t" anchorCtr="0">
            <a:normAutofit/>
          </a:bodyPr>
          <a:lstStyle/>
          <a:p>
            <a:pPr marL="457200" lvl="0" indent="-330200" algn="l" rtl="0">
              <a:lnSpc>
                <a:spcPct val="115000"/>
              </a:lnSpc>
              <a:spcBef>
                <a:spcPts val="0"/>
              </a:spcBef>
              <a:spcAft>
                <a:spcPts val="0"/>
              </a:spcAft>
              <a:buClr>
                <a:schemeClr val="dk1"/>
              </a:buClr>
              <a:buSzPts val="1600"/>
              <a:buChar char="●"/>
            </a:pPr>
            <a:r>
              <a:rPr lang="en-GB" b="1" dirty="0">
                <a:solidFill>
                  <a:schemeClr val="dk1"/>
                </a:solidFill>
                <a:latin typeface="Quicksand"/>
                <a:ea typeface="Quicksand"/>
                <a:cs typeface="Quicksand"/>
                <a:sym typeface="Quicksand"/>
              </a:rPr>
              <a:t>Project Definition:</a:t>
            </a:r>
            <a:r>
              <a:rPr lang="en-GB" dirty="0">
                <a:solidFill>
                  <a:schemeClr val="dk1"/>
                </a:solidFill>
                <a:latin typeface="Quicksand"/>
                <a:ea typeface="Quicksand"/>
                <a:cs typeface="Quicksand"/>
                <a:sym typeface="Quicksand"/>
              </a:rPr>
              <a:t> An end-to-end Machine Learning pipeline and web application designed to forecast usable solar energy output and battery backup duration.</a:t>
            </a:r>
            <a:endParaRPr dirty="0">
              <a:solidFill>
                <a:schemeClr val="dk1"/>
              </a:solidFill>
              <a:latin typeface="Quicksand"/>
              <a:ea typeface="Quicksand"/>
              <a:cs typeface="Quicksand"/>
              <a:sym typeface="Quicksand"/>
            </a:endParaRPr>
          </a:p>
          <a:p>
            <a:pPr marL="457200" lvl="0" indent="-330200" algn="l" rtl="0">
              <a:lnSpc>
                <a:spcPct val="115000"/>
              </a:lnSpc>
              <a:spcBef>
                <a:spcPts val="0"/>
              </a:spcBef>
              <a:spcAft>
                <a:spcPts val="0"/>
              </a:spcAft>
              <a:buClr>
                <a:schemeClr val="dk1"/>
              </a:buClr>
              <a:buSzPts val="1600"/>
              <a:buChar char="●"/>
            </a:pPr>
            <a:r>
              <a:rPr lang="en-GB" b="1" dirty="0">
                <a:solidFill>
                  <a:schemeClr val="dk1"/>
                </a:solidFill>
                <a:latin typeface="Quicksand"/>
                <a:ea typeface="Quicksand"/>
                <a:cs typeface="Quicksand"/>
                <a:sym typeface="Quicksand"/>
              </a:rPr>
              <a:t>Our Approach:</a:t>
            </a:r>
            <a:r>
              <a:rPr lang="en-GB" dirty="0">
                <a:solidFill>
                  <a:schemeClr val="dk1"/>
                </a:solidFill>
                <a:latin typeface="Quicksand"/>
                <a:ea typeface="Quicksand"/>
                <a:cs typeface="Quicksand"/>
                <a:sym typeface="Quicksand"/>
              </a:rPr>
              <a:t> Bridging domain knowledge and AI. We augmented traditional physics-based solar equations with advanced Machine Learning models to capture complex weather interactions.</a:t>
            </a:r>
            <a:endParaRPr dirty="0">
              <a:solidFill>
                <a:schemeClr val="dk1"/>
              </a:solidFill>
              <a:latin typeface="Quicksand"/>
              <a:ea typeface="Quicksand"/>
              <a:cs typeface="Quicksand"/>
              <a:sym typeface="Quicksand"/>
            </a:endParaRPr>
          </a:p>
          <a:p>
            <a:pPr marL="457200" lvl="0" indent="-330200" algn="l" rtl="0">
              <a:lnSpc>
                <a:spcPct val="115000"/>
              </a:lnSpc>
              <a:spcBef>
                <a:spcPts val="0"/>
              </a:spcBef>
              <a:spcAft>
                <a:spcPts val="0"/>
              </a:spcAft>
              <a:buClr>
                <a:schemeClr val="dk1"/>
              </a:buClr>
              <a:buSzPts val="1600"/>
              <a:buChar char="●"/>
            </a:pPr>
            <a:r>
              <a:rPr lang="en-GB" b="1" dirty="0">
                <a:solidFill>
                  <a:schemeClr val="dk1"/>
                </a:solidFill>
                <a:latin typeface="Quicksand"/>
                <a:ea typeface="Quicksand"/>
                <a:cs typeface="Quicksand"/>
                <a:sym typeface="Quicksand"/>
              </a:rPr>
              <a:t>The Final Deliverable:</a:t>
            </a:r>
            <a:r>
              <a:rPr lang="en-GB" dirty="0">
                <a:solidFill>
                  <a:schemeClr val="dk1"/>
                </a:solidFill>
                <a:latin typeface="Quicksand"/>
                <a:ea typeface="Quicksand"/>
                <a:cs typeface="Quicksand"/>
                <a:sym typeface="Quicksand"/>
              </a:rPr>
              <a:t> An interactive, user-friendly </a:t>
            </a:r>
            <a:r>
              <a:rPr lang="en-GB" dirty="0" err="1">
                <a:solidFill>
                  <a:schemeClr val="dk1"/>
                </a:solidFill>
                <a:latin typeface="Quicksand"/>
                <a:ea typeface="Quicksand"/>
                <a:cs typeface="Quicksand"/>
                <a:sym typeface="Quicksand"/>
              </a:rPr>
              <a:t>Streamlit</a:t>
            </a:r>
            <a:r>
              <a:rPr lang="en-GB" dirty="0">
                <a:solidFill>
                  <a:schemeClr val="dk1"/>
                </a:solidFill>
                <a:latin typeface="Quicksand"/>
                <a:ea typeface="Quicksand"/>
                <a:cs typeface="Quicksand"/>
                <a:sym typeface="Quicksand"/>
              </a:rPr>
              <a:t> dashboard that turns raw meteorological data into actionable energy insights.</a:t>
            </a:r>
            <a:endParaRPr dirty="0">
              <a:solidFill>
                <a:schemeClr val="dk1"/>
              </a:solidFill>
              <a:latin typeface="Quicksand"/>
              <a:ea typeface="Quicksand"/>
              <a:cs typeface="Quicksand"/>
              <a:sym typeface="Quicksand"/>
            </a:endParaRPr>
          </a:p>
        </p:txBody>
      </p:sp>
      <p:sp>
        <p:nvSpPr>
          <p:cNvPr id="78" name="Google Shape;78;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pic>
        <p:nvPicPr>
          <p:cNvPr id="83" name="Google Shape;83;p16"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sp>
        <p:nvSpPr>
          <p:cNvPr id="84" name="Google Shape;84;p16"/>
          <p:cNvSpPr txBox="1">
            <a:spLocks noGrp="1"/>
          </p:cNvSpPr>
          <p:nvPr>
            <p:ph type="body" idx="1"/>
          </p:nvPr>
        </p:nvSpPr>
        <p:spPr>
          <a:xfrm>
            <a:off x="2603900" y="1036525"/>
            <a:ext cx="4068900" cy="4452300"/>
          </a:xfrm>
          <a:prstGeom prst="rect">
            <a:avLst/>
          </a:prstGeom>
        </p:spPr>
        <p:txBody>
          <a:bodyPr spcFirstLastPara="1" wrap="square" lIns="91425" tIns="91425" rIns="91425" bIns="91425" anchor="t" anchorCtr="0">
            <a:normAutofit fontScale="62500" lnSpcReduction="10000"/>
          </a:bodyPr>
          <a:lstStyle/>
          <a:p>
            <a:pPr marL="269999" lvl="0" indent="-308402" algn="l" rtl="0">
              <a:lnSpc>
                <a:spcPct val="150000"/>
              </a:lnSpc>
              <a:spcBef>
                <a:spcPts val="0"/>
              </a:spcBef>
              <a:spcAft>
                <a:spcPts val="0"/>
              </a:spcAft>
              <a:buClr>
                <a:schemeClr val="dk1"/>
              </a:buClr>
              <a:buSzPct val="100000"/>
              <a:buChar char="●"/>
            </a:pPr>
            <a:r>
              <a:rPr lang="en-GB" sz="2011" b="1">
                <a:solidFill>
                  <a:schemeClr val="dk1"/>
                </a:solidFill>
                <a:latin typeface="Quicksand"/>
                <a:ea typeface="Quicksand"/>
                <a:cs typeface="Quicksand"/>
                <a:sym typeface="Quicksand"/>
              </a:rPr>
              <a:t>The Local Context:</a:t>
            </a:r>
            <a:r>
              <a:rPr lang="en-GB" sz="2011">
                <a:solidFill>
                  <a:schemeClr val="dk1"/>
                </a:solidFill>
                <a:latin typeface="Quicksand"/>
                <a:ea typeface="Quicksand"/>
                <a:cs typeface="Quicksand"/>
                <a:sym typeface="Quicksand"/>
              </a:rPr>
              <a:t> Frequent grid instability (load-shedding) makes reliable battery backup an absolute necessity, not a luxury.</a:t>
            </a:r>
            <a:endParaRPr sz="2011" b="1">
              <a:solidFill>
                <a:schemeClr val="dk1"/>
              </a:solidFill>
              <a:latin typeface="Quicksand"/>
              <a:ea typeface="Quicksand"/>
              <a:cs typeface="Quicksand"/>
              <a:sym typeface="Quicksand"/>
            </a:endParaRPr>
          </a:p>
          <a:p>
            <a:pPr marL="269999" lvl="0" indent="-308402" algn="l" rtl="0">
              <a:lnSpc>
                <a:spcPct val="150000"/>
              </a:lnSpc>
              <a:spcBef>
                <a:spcPts val="0"/>
              </a:spcBef>
              <a:spcAft>
                <a:spcPts val="0"/>
              </a:spcAft>
              <a:buClr>
                <a:schemeClr val="dk1"/>
              </a:buClr>
              <a:buSzPct val="100000"/>
              <a:buChar char="●"/>
            </a:pPr>
            <a:r>
              <a:rPr lang="en-GB" sz="2011" b="1">
                <a:solidFill>
                  <a:schemeClr val="dk1"/>
                </a:solidFill>
                <a:latin typeface="Quicksand"/>
                <a:ea typeface="Quicksand"/>
                <a:cs typeface="Quicksand"/>
                <a:sym typeface="Quicksand"/>
              </a:rPr>
              <a:t>The Weather Challenge:</a:t>
            </a:r>
            <a:r>
              <a:rPr lang="en-GB" sz="2011">
                <a:solidFill>
                  <a:schemeClr val="dk1"/>
                </a:solidFill>
                <a:latin typeface="Quicksand"/>
                <a:ea typeface="Quicksand"/>
                <a:cs typeface="Quicksand"/>
                <a:sym typeface="Quicksand"/>
              </a:rPr>
              <a:t>  </a:t>
            </a:r>
            <a:endParaRPr sz="2011">
              <a:solidFill>
                <a:schemeClr val="dk1"/>
              </a:solidFill>
              <a:latin typeface="Quicksand"/>
              <a:ea typeface="Quicksand"/>
              <a:cs typeface="Quicksand"/>
              <a:sym typeface="Quicksand"/>
            </a:endParaRPr>
          </a:p>
          <a:p>
            <a:pPr marL="450000" lvl="1" indent="-308402" algn="l" rtl="0">
              <a:lnSpc>
                <a:spcPct val="150000"/>
              </a:lnSpc>
              <a:spcBef>
                <a:spcPts val="0"/>
              </a:spcBef>
              <a:spcAft>
                <a:spcPts val="0"/>
              </a:spcAft>
              <a:buClr>
                <a:schemeClr val="dk1"/>
              </a:buClr>
              <a:buSzPct val="100000"/>
              <a:buChar char="○"/>
            </a:pPr>
            <a:r>
              <a:rPr lang="en-GB" sz="2011" b="1">
                <a:solidFill>
                  <a:schemeClr val="dk1"/>
                </a:solidFill>
                <a:latin typeface="Quicksand"/>
                <a:ea typeface="Quicksand"/>
                <a:cs typeface="Quicksand"/>
                <a:sym typeface="Quicksand"/>
              </a:rPr>
              <a:t>Monsoon Season:</a:t>
            </a:r>
            <a:r>
              <a:rPr lang="en-GB" sz="2011">
                <a:solidFill>
                  <a:schemeClr val="dk1"/>
                </a:solidFill>
                <a:latin typeface="Quicksand"/>
                <a:ea typeface="Quicksand"/>
                <a:cs typeface="Quicksand"/>
                <a:sym typeface="Quicksand"/>
              </a:rPr>
              <a:t> Heavy, unpredictable cloud cover drastically reduces solar irradiance.</a:t>
            </a:r>
            <a:endParaRPr sz="2011">
              <a:solidFill>
                <a:schemeClr val="dk1"/>
              </a:solidFill>
              <a:latin typeface="Quicksand"/>
              <a:ea typeface="Quicksand"/>
              <a:cs typeface="Quicksand"/>
              <a:sym typeface="Quicksand"/>
            </a:endParaRPr>
          </a:p>
          <a:p>
            <a:pPr marL="450000" lvl="1" indent="-308402" algn="l" rtl="0">
              <a:lnSpc>
                <a:spcPct val="150000"/>
              </a:lnSpc>
              <a:spcBef>
                <a:spcPts val="0"/>
              </a:spcBef>
              <a:spcAft>
                <a:spcPts val="0"/>
              </a:spcAft>
              <a:buClr>
                <a:schemeClr val="dk1"/>
              </a:buClr>
              <a:buSzPct val="100000"/>
              <a:buChar char="○"/>
            </a:pPr>
            <a:r>
              <a:rPr lang="en-GB" sz="2011" b="1">
                <a:solidFill>
                  <a:schemeClr val="dk1"/>
                </a:solidFill>
                <a:latin typeface="Quicksand"/>
                <a:ea typeface="Quicksand"/>
                <a:cs typeface="Quicksand"/>
                <a:sym typeface="Quicksand"/>
              </a:rPr>
              <a:t>High Heat &amp; Humidity:</a:t>
            </a:r>
            <a:r>
              <a:rPr lang="en-GB" sz="2011">
                <a:solidFill>
                  <a:schemeClr val="dk1"/>
                </a:solidFill>
                <a:latin typeface="Quicksand"/>
                <a:ea typeface="Quicksand"/>
                <a:cs typeface="Quicksand"/>
                <a:sym typeface="Quicksand"/>
              </a:rPr>
              <a:t> Extreme summer temperatures negatively impact solar panel efficiency.</a:t>
            </a:r>
            <a:endParaRPr sz="2011">
              <a:solidFill>
                <a:schemeClr val="dk1"/>
              </a:solidFill>
              <a:latin typeface="Quicksand"/>
              <a:ea typeface="Quicksand"/>
              <a:cs typeface="Quicksand"/>
              <a:sym typeface="Quicksand"/>
            </a:endParaRPr>
          </a:p>
          <a:p>
            <a:pPr marL="269999" lvl="0" indent="-308402" algn="l" rtl="0">
              <a:lnSpc>
                <a:spcPct val="150000"/>
              </a:lnSpc>
              <a:spcBef>
                <a:spcPts val="0"/>
              </a:spcBef>
              <a:spcAft>
                <a:spcPts val="0"/>
              </a:spcAft>
              <a:buClr>
                <a:schemeClr val="dk1"/>
              </a:buClr>
              <a:buSzPct val="100000"/>
              <a:buChar char="●"/>
            </a:pPr>
            <a:r>
              <a:rPr lang="en-GB" sz="2011" b="1">
                <a:solidFill>
                  <a:schemeClr val="dk1"/>
                </a:solidFill>
                <a:latin typeface="Quicksand"/>
                <a:ea typeface="Quicksand"/>
                <a:cs typeface="Quicksand"/>
                <a:sym typeface="Quicksand"/>
              </a:rPr>
              <a:t>The Core Gap:</a:t>
            </a:r>
            <a:r>
              <a:rPr lang="en-GB" sz="2011">
                <a:solidFill>
                  <a:schemeClr val="dk1"/>
                </a:solidFill>
                <a:latin typeface="Quicksand"/>
                <a:ea typeface="Quicksand"/>
                <a:cs typeface="Quicksand"/>
                <a:sym typeface="Quicksand"/>
              </a:rPr>
              <a:t> Traditional mathematical formulas cannot accurately predict how long a battery will last under these extreme, dynamic tropical weather conditions.</a:t>
            </a:r>
            <a:endParaRPr sz="2011">
              <a:solidFill>
                <a:schemeClr val="dk1"/>
              </a:solidFill>
              <a:latin typeface="Quicksand"/>
              <a:ea typeface="Quicksand"/>
              <a:cs typeface="Quicksand"/>
              <a:sym typeface="Quicksand"/>
            </a:endParaRPr>
          </a:p>
          <a:p>
            <a:pPr marL="0" lvl="0" indent="0" algn="l" rtl="0">
              <a:spcBef>
                <a:spcPts val="1200"/>
              </a:spcBef>
              <a:spcAft>
                <a:spcPts val="0"/>
              </a:spcAft>
              <a:buNone/>
            </a:pPr>
            <a:endParaRPr sz="1100">
              <a:solidFill>
                <a:schemeClr val="dk1"/>
              </a:solidFill>
            </a:endParaRPr>
          </a:p>
          <a:p>
            <a:pPr marL="457200" lvl="0" indent="0" algn="l" rtl="0">
              <a:spcBef>
                <a:spcPts val="1200"/>
              </a:spcBef>
              <a:spcAft>
                <a:spcPts val="0"/>
              </a:spcAft>
              <a:buNone/>
            </a:pPr>
            <a:endParaRPr sz="1100">
              <a:solidFill>
                <a:schemeClr val="dk1"/>
              </a:solidFill>
            </a:endParaRPr>
          </a:p>
          <a:p>
            <a:pPr marL="0" lvl="0" indent="0" algn="l" rtl="0">
              <a:spcBef>
                <a:spcPts val="1200"/>
              </a:spcBef>
              <a:spcAft>
                <a:spcPts val="1200"/>
              </a:spcAft>
              <a:buNone/>
            </a:pPr>
            <a:endParaRPr sz="1100">
              <a:solidFill>
                <a:schemeClr val="dk1"/>
              </a:solidFill>
            </a:endParaRPr>
          </a:p>
        </p:txBody>
      </p:sp>
      <p:pic>
        <p:nvPicPr>
          <p:cNvPr id="85" name="Google Shape;85;p16"/>
          <p:cNvPicPr preferRelativeResize="0"/>
          <p:nvPr/>
        </p:nvPicPr>
        <p:blipFill>
          <a:blip r:embed="rId4">
            <a:alphaModFix/>
          </a:blip>
          <a:stretch>
            <a:fillRect/>
          </a:stretch>
        </p:blipFill>
        <p:spPr>
          <a:xfrm>
            <a:off x="0" y="1101025"/>
            <a:ext cx="2603899" cy="3600558"/>
          </a:xfrm>
          <a:prstGeom prst="rect">
            <a:avLst/>
          </a:prstGeom>
          <a:noFill/>
          <a:ln>
            <a:noFill/>
          </a:ln>
        </p:spPr>
      </p:pic>
      <p:pic>
        <p:nvPicPr>
          <p:cNvPr id="86" name="Google Shape;86;p16"/>
          <p:cNvPicPr preferRelativeResize="0"/>
          <p:nvPr/>
        </p:nvPicPr>
        <p:blipFill>
          <a:blip r:embed="rId5">
            <a:alphaModFix/>
          </a:blip>
          <a:stretch>
            <a:fillRect/>
          </a:stretch>
        </p:blipFill>
        <p:spPr>
          <a:xfrm>
            <a:off x="6650500" y="1036525"/>
            <a:ext cx="2493491" cy="3729550"/>
          </a:xfrm>
          <a:prstGeom prst="rect">
            <a:avLst/>
          </a:prstGeom>
          <a:noFill/>
          <a:ln>
            <a:noFill/>
          </a:ln>
        </p:spPr>
      </p:pic>
      <p:sp>
        <p:nvSpPr>
          <p:cNvPr id="87" name="Google Shape;87;p16"/>
          <p:cNvSpPr/>
          <p:nvPr/>
        </p:nvSpPr>
        <p:spPr>
          <a:xfrm>
            <a:off x="0" y="0"/>
            <a:ext cx="9144000" cy="755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GB" sz="2700" b="1">
                <a:solidFill>
                  <a:schemeClr val="dk1"/>
                </a:solidFill>
                <a:latin typeface="Quicksand"/>
                <a:ea typeface="Quicksand"/>
                <a:cs typeface="Quicksand"/>
                <a:sym typeface="Quicksand"/>
              </a:rPr>
              <a:t>The Real-World Problem in Bangladesh</a:t>
            </a:r>
            <a:endParaRPr/>
          </a:p>
        </p:txBody>
      </p:sp>
      <p:sp>
        <p:nvSpPr>
          <p:cNvPr id="88" name="Google Shape;88;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93" name="Google Shape;93;p17"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pic>
        <p:nvPicPr>
          <p:cNvPr id="94" name="Google Shape;94;p17" title="0baaa4cc7819679968525b3f66ae97a7-69d3bb0d2c059.jpg"/>
          <p:cNvPicPr preferRelativeResize="0"/>
          <p:nvPr/>
        </p:nvPicPr>
        <p:blipFill>
          <a:blip r:embed="rId4">
            <a:alphaModFix/>
          </a:blip>
          <a:stretch>
            <a:fillRect/>
          </a:stretch>
        </p:blipFill>
        <p:spPr>
          <a:xfrm>
            <a:off x="5315712" y="605700"/>
            <a:ext cx="3828287" cy="4537799"/>
          </a:xfrm>
          <a:prstGeom prst="rect">
            <a:avLst/>
          </a:prstGeom>
          <a:noFill/>
          <a:ln>
            <a:noFill/>
          </a:ln>
        </p:spPr>
      </p:pic>
      <p:sp>
        <p:nvSpPr>
          <p:cNvPr id="95" name="Google Shape;95;p17"/>
          <p:cNvSpPr/>
          <p:nvPr/>
        </p:nvSpPr>
        <p:spPr>
          <a:xfrm>
            <a:off x="0" y="0"/>
            <a:ext cx="9144000" cy="605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3000" b="1">
                <a:solidFill>
                  <a:srgbClr val="1A1A1A"/>
                </a:solidFill>
                <a:latin typeface="Quicksand"/>
                <a:ea typeface="Quicksand"/>
                <a:cs typeface="Quicksand"/>
                <a:sym typeface="Quicksand"/>
              </a:rPr>
              <a:t>Current Situation in Bangladesh</a:t>
            </a:r>
            <a:r>
              <a:rPr lang="en-GB" sz="3600" b="1">
                <a:solidFill>
                  <a:srgbClr val="1A1A1A"/>
                </a:solidFill>
              </a:rPr>
              <a:t> </a:t>
            </a:r>
            <a:endParaRPr/>
          </a:p>
        </p:txBody>
      </p:sp>
      <p:sp>
        <p:nvSpPr>
          <p:cNvPr id="96" name="Google Shape;96;p17"/>
          <p:cNvSpPr txBox="1"/>
          <p:nvPr/>
        </p:nvSpPr>
        <p:spPr>
          <a:xfrm>
            <a:off x="142050" y="1128875"/>
            <a:ext cx="5061300" cy="337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GB" sz="1600" b="1">
                <a:solidFill>
                  <a:schemeClr val="dk1"/>
                </a:solidFill>
                <a:latin typeface="Quicksand"/>
                <a:ea typeface="Quicksand"/>
                <a:cs typeface="Quicksand"/>
                <a:sym typeface="Quicksand"/>
              </a:rPr>
              <a:t>1. The Energy Reliability Gap</a:t>
            </a:r>
            <a:endParaRPr sz="1600" b="1">
              <a:solidFill>
                <a:schemeClr val="dk1"/>
              </a:solidFill>
              <a:latin typeface="Quicksand"/>
              <a:ea typeface="Quicksand"/>
              <a:cs typeface="Quicksand"/>
              <a:sym typeface="Quicksand"/>
            </a:endParaRPr>
          </a:p>
          <a:p>
            <a:pPr marL="457200" lvl="0" indent="-330200" algn="l" rtl="0">
              <a:lnSpc>
                <a:spcPct val="115000"/>
              </a:lnSpc>
              <a:spcBef>
                <a:spcPts val="1200"/>
              </a:spcBef>
              <a:spcAft>
                <a:spcPts val="0"/>
              </a:spcAft>
              <a:buClr>
                <a:schemeClr val="dk1"/>
              </a:buClr>
              <a:buSzPts val="1600"/>
              <a:buChar char="●"/>
            </a:pPr>
            <a:r>
              <a:rPr lang="en-GB" sz="1600" b="1">
                <a:solidFill>
                  <a:schemeClr val="dk1"/>
                </a:solidFill>
                <a:latin typeface="Quicksand"/>
                <a:ea typeface="Quicksand"/>
                <a:cs typeface="Quicksand"/>
                <a:sym typeface="Quicksand"/>
              </a:rPr>
              <a:t>Persistent Load-Shedding:</a:t>
            </a:r>
            <a:r>
              <a:rPr lang="en-GB" sz="1600">
                <a:solidFill>
                  <a:schemeClr val="dk1"/>
                </a:solidFill>
                <a:latin typeface="Quicksand"/>
                <a:ea typeface="Quicksand"/>
                <a:cs typeface="Quicksand"/>
                <a:sym typeface="Quicksand"/>
              </a:rPr>
              <a:t> Despite increased generation capacity, urban and rural areas in Bangladesh still face unpredictable power outages due to fuel supply volatility and grid instability.</a:t>
            </a:r>
            <a:endParaRPr sz="1600">
              <a:solidFill>
                <a:schemeClr val="dk1"/>
              </a:solidFill>
              <a:latin typeface="Quicksand"/>
              <a:ea typeface="Quicksand"/>
              <a:cs typeface="Quicksand"/>
              <a:sym typeface="Quicksand"/>
            </a:endParaRPr>
          </a:p>
          <a:p>
            <a:pPr marL="457200" lvl="0" indent="-330200" algn="l" rtl="0">
              <a:lnSpc>
                <a:spcPct val="115000"/>
              </a:lnSpc>
              <a:spcBef>
                <a:spcPts val="0"/>
              </a:spcBef>
              <a:spcAft>
                <a:spcPts val="0"/>
              </a:spcAft>
              <a:buClr>
                <a:schemeClr val="dk1"/>
              </a:buClr>
              <a:buSzPts val="1600"/>
              <a:buChar char="●"/>
            </a:pPr>
            <a:r>
              <a:rPr lang="en-GB" sz="1600" b="1">
                <a:solidFill>
                  <a:schemeClr val="dk1"/>
                </a:solidFill>
                <a:latin typeface="Quicksand"/>
                <a:ea typeface="Quicksand"/>
                <a:cs typeface="Quicksand"/>
                <a:sym typeface="Quicksand"/>
              </a:rPr>
              <a:t>Dependency on Fossil Fuels:</a:t>
            </a:r>
            <a:r>
              <a:rPr lang="en-GB" sz="1600">
                <a:solidFill>
                  <a:schemeClr val="dk1"/>
                </a:solidFill>
                <a:latin typeface="Quicksand"/>
                <a:ea typeface="Quicksand"/>
                <a:cs typeface="Quicksand"/>
                <a:sym typeface="Quicksand"/>
              </a:rPr>
              <a:t> Over </a:t>
            </a:r>
            <a:r>
              <a:rPr lang="en-GB" sz="1600" b="1">
                <a:solidFill>
                  <a:schemeClr val="dk1"/>
                </a:solidFill>
                <a:latin typeface="Quicksand"/>
                <a:ea typeface="Quicksand"/>
                <a:cs typeface="Quicksand"/>
                <a:sym typeface="Quicksand"/>
              </a:rPr>
              <a:t>70%</a:t>
            </a:r>
            <a:r>
              <a:rPr lang="en-GB" sz="1600">
                <a:solidFill>
                  <a:schemeClr val="dk1"/>
                </a:solidFill>
                <a:latin typeface="Quicksand"/>
                <a:ea typeface="Quicksand"/>
                <a:cs typeface="Quicksand"/>
                <a:sym typeface="Quicksand"/>
              </a:rPr>
              <a:t> of the national grid remains dependent on natural gas and imported coal, leading to high costs and energy insecurity.</a:t>
            </a:r>
            <a:endParaRPr sz="1600">
              <a:solidFill>
                <a:schemeClr val="dk1"/>
              </a:solidFill>
              <a:latin typeface="Quicksand"/>
              <a:ea typeface="Quicksand"/>
              <a:cs typeface="Quicksand"/>
              <a:sym typeface="Quicksand"/>
            </a:endParaRPr>
          </a:p>
          <a:p>
            <a:pPr marL="0" lvl="0" indent="0" algn="l" rtl="0">
              <a:spcBef>
                <a:spcPts val="1200"/>
              </a:spcBef>
              <a:spcAft>
                <a:spcPts val="0"/>
              </a:spcAft>
              <a:buNone/>
            </a:pPr>
            <a:endParaRPr sz="1800">
              <a:solidFill>
                <a:schemeClr val="dk2"/>
              </a:solidFill>
            </a:endParaRPr>
          </a:p>
        </p:txBody>
      </p:sp>
      <p:sp>
        <p:nvSpPr>
          <p:cNvPr id="97" name="Google Shape;97;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102" name="Google Shape;102;p18"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pic>
        <p:nvPicPr>
          <p:cNvPr id="103" name="Google Shape;103;p18" title="0baaa4cc7819679968525b3f66ae97a7-69d3bb0d2c059.jpg"/>
          <p:cNvPicPr preferRelativeResize="0"/>
          <p:nvPr/>
        </p:nvPicPr>
        <p:blipFill>
          <a:blip r:embed="rId4">
            <a:alphaModFix/>
          </a:blip>
          <a:stretch>
            <a:fillRect/>
          </a:stretch>
        </p:blipFill>
        <p:spPr>
          <a:xfrm>
            <a:off x="5315712" y="605700"/>
            <a:ext cx="3828287" cy="4537799"/>
          </a:xfrm>
          <a:prstGeom prst="rect">
            <a:avLst/>
          </a:prstGeom>
          <a:noFill/>
          <a:ln>
            <a:noFill/>
          </a:ln>
        </p:spPr>
      </p:pic>
      <p:sp>
        <p:nvSpPr>
          <p:cNvPr id="104" name="Google Shape;104;p18"/>
          <p:cNvSpPr/>
          <p:nvPr/>
        </p:nvSpPr>
        <p:spPr>
          <a:xfrm>
            <a:off x="0" y="0"/>
            <a:ext cx="9144000" cy="605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3000" b="1">
                <a:solidFill>
                  <a:srgbClr val="1A1A1A"/>
                </a:solidFill>
                <a:latin typeface="Quicksand"/>
                <a:ea typeface="Quicksand"/>
                <a:cs typeface="Quicksand"/>
                <a:sym typeface="Quicksand"/>
              </a:rPr>
              <a:t>Current Situation in Bangladesh</a:t>
            </a:r>
            <a:r>
              <a:rPr lang="en-GB" sz="3600" b="1">
                <a:solidFill>
                  <a:srgbClr val="1A1A1A"/>
                </a:solidFill>
              </a:rPr>
              <a:t> </a:t>
            </a:r>
            <a:endParaRPr/>
          </a:p>
        </p:txBody>
      </p:sp>
      <p:sp>
        <p:nvSpPr>
          <p:cNvPr id="105" name="Google Shape;105;p18"/>
          <p:cNvSpPr txBox="1"/>
          <p:nvPr/>
        </p:nvSpPr>
        <p:spPr>
          <a:xfrm>
            <a:off x="142050" y="1128875"/>
            <a:ext cx="5061300" cy="3524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n-GB" sz="1600" b="1">
                <a:solidFill>
                  <a:schemeClr val="dk1"/>
                </a:solidFill>
                <a:latin typeface="Quicksand"/>
                <a:ea typeface="Quicksand"/>
                <a:cs typeface="Quicksand"/>
                <a:sym typeface="Quicksand"/>
              </a:rPr>
              <a:t>2. The Solar Integration Challenge</a:t>
            </a:r>
            <a:endParaRPr sz="1600" b="1">
              <a:solidFill>
                <a:schemeClr val="dk1"/>
              </a:solidFill>
              <a:latin typeface="Quicksand"/>
              <a:ea typeface="Quicksand"/>
              <a:cs typeface="Quicksand"/>
              <a:sym typeface="Quicksand"/>
            </a:endParaRPr>
          </a:p>
          <a:p>
            <a:pPr marL="457200" lvl="0" indent="-330200" algn="l" rtl="0">
              <a:lnSpc>
                <a:spcPct val="115000"/>
              </a:lnSpc>
              <a:spcBef>
                <a:spcPts val="1200"/>
              </a:spcBef>
              <a:spcAft>
                <a:spcPts val="0"/>
              </a:spcAft>
              <a:buClr>
                <a:schemeClr val="dk1"/>
              </a:buClr>
              <a:buSzPts val="1600"/>
              <a:buChar char="●"/>
            </a:pPr>
            <a:r>
              <a:rPr lang="en-GB" sz="1600" b="1">
                <a:solidFill>
                  <a:schemeClr val="dk1"/>
                </a:solidFill>
                <a:latin typeface="Quicksand"/>
                <a:ea typeface="Quicksand"/>
                <a:cs typeface="Quicksand"/>
                <a:sym typeface="Quicksand"/>
              </a:rPr>
              <a:t>Intermittency Issues:</a:t>
            </a:r>
            <a:r>
              <a:rPr lang="en-GB" sz="1600">
                <a:solidFill>
                  <a:schemeClr val="dk1"/>
                </a:solidFill>
                <a:latin typeface="Quicksand"/>
                <a:ea typeface="Quicksand"/>
                <a:cs typeface="Quicksand"/>
                <a:sym typeface="Quicksand"/>
              </a:rPr>
              <a:t> Solar Home Systems (SHS) and industrial rooftop solar are expanding, but power generation fluctuates wildly due to </a:t>
            </a:r>
            <a:r>
              <a:rPr lang="en-GB" sz="1600" b="1">
                <a:solidFill>
                  <a:schemeClr val="dk1"/>
                </a:solidFill>
                <a:latin typeface="Quicksand"/>
                <a:ea typeface="Quicksand"/>
                <a:cs typeface="Quicksand"/>
                <a:sym typeface="Quicksand"/>
              </a:rPr>
              <a:t>monsoon cloud cover</a:t>
            </a:r>
            <a:r>
              <a:rPr lang="en-GB" sz="1600">
                <a:solidFill>
                  <a:schemeClr val="dk1"/>
                </a:solidFill>
                <a:latin typeface="Quicksand"/>
                <a:ea typeface="Quicksand"/>
                <a:cs typeface="Quicksand"/>
                <a:sym typeface="Quicksand"/>
              </a:rPr>
              <a:t> and </a:t>
            </a:r>
            <a:r>
              <a:rPr lang="en-GB" sz="1600" b="1">
                <a:solidFill>
                  <a:schemeClr val="dk1"/>
                </a:solidFill>
                <a:latin typeface="Quicksand"/>
                <a:ea typeface="Quicksand"/>
                <a:cs typeface="Quicksand"/>
                <a:sym typeface="Quicksand"/>
              </a:rPr>
              <a:t>high humidity</a:t>
            </a:r>
            <a:r>
              <a:rPr lang="en-GB" sz="1600">
                <a:solidFill>
                  <a:schemeClr val="dk1"/>
                </a:solidFill>
                <a:latin typeface="Quicksand"/>
                <a:ea typeface="Quicksand"/>
                <a:cs typeface="Quicksand"/>
                <a:sym typeface="Quicksand"/>
              </a:rPr>
              <a:t>.</a:t>
            </a:r>
            <a:endParaRPr sz="1600">
              <a:solidFill>
                <a:schemeClr val="dk1"/>
              </a:solidFill>
              <a:latin typeface="Quicksand"/>
              <a:ea typeface="Quicksand"/>
              <a:cs typeface="Quicksand"/>
              <a:sym typeface="Quicksand"/>
            </a:endParaRPr>
          </a:p>
          <a:p>
            <a:pPr marL="457200" lvl="0" indent="-330200" algn="l" rtl="0">
              <a:lnSpc>
                <a:spcPct val="115000"/>
              </a:lnSpc>
              <a:spcBef>
                <a:spcPts val="0"/>
              </a:spcBef>
              <a:spcAft>
                <a:spcPts val="0"/>
              </a:spcAft>
              <a:buClr>
                <a:schemeClr val="dk1"/>
              </a:buClr>
              <a:buSzPts val="1600"/>
              <a:buChar char="●"/>
            </a:pPr>
            <a:r>
              <a:rPr lang="en-GB" sz="1600" b="1">
                <a:solidFill>
                  <a:schemeClr val="dk1"/>
                </a:solidFill>
                <a:latin typeface="Quicksand"/>
                <a:ea typeface="Quicksand"/>
                <a:cs typeface="Quicksand"/>
                <a:sym typeface="Quicksand"/>
              </a:rPr>
              <a:t>Lack of Predictive Tools:</a:t>
            </a:r>
            <a:r>
              <a:rPr lang="en-GB" sz="1600">
                <a:solidFill>
                  <a:schemeClr val="dk1"/>
                </a:solidFill>
                <a:latin typeface="Quicksand"/>
                <a:ea typeface="Quicksand"/>
                <a:cs typeface="Quicksand"/>
                <a:sym typeface="Quicksand"/>
              </a:rPr>
              <a:t> Most current users have no way to know how much "backup" they actually have, leading to unexpected shutdowns of critical appliances during outages.</a:t>
            </a:r>
            <a:endParaRPr sz="1600">
              <a:solidFill>
                <a:schemeClr val="dk1"/>
              </a:solidFill>
              <a:latin typeface="Quicksand"/>
              <a:ea typeface="Quicksand"/>
              <a:cs typeface="Quicksand"/>
              <a:sym typeface="Quicksand"/>
            </a:endParaRPr>
          </a:p>
          <a:p>
            <a:pPr marL="457200" lvl="0" indent="0" algn="l" rtl="0">
              <a:lnSpc>
                <a:spcPct val="115000"/>
              </a:lnSpc>
              <a:spcBef>
                <a:spcPts val="1200"/>
              </a:spcBef>
              <a:spcAft>
                <a:spcPts val="0"/>
              </a:spcAft>
              <a:buNone/>
            </a:pPr>
            <a:endParaRPr sz="1600" b="1">
              <a:solidFill>
                <a:schemeClr val="dk1"/>
              </a:solidFill>
              <a:latin typeface="Quicksand"/>
              <a:ea typeface="Quicksand"/>
              <a:cs typeface="Quicksand"/>
              <a:sym typeface="Quicksand"/>
            </a:endParaRPr>
          </a:p>
          <a:p>
            <a:pPr marL="0" lvl="0" indent="0" algn="l" rtl="0">
              <a:lnSpc>
                <a:spcPct val="115000"/>
              </a:lnSpc>
              <a:spcBef>
                <a:spcPts val="1400"/>
              </a:spcBef>
              <a:spcAft>
                <a:spcPts val="0"/>
              </a:spcAft>
              <a:buNone/>
            </a:pPr>
            <a:endParaRPr sz="1600" b="1">
              <a:solidFill>
                <a:schemeClr val="dk1"/>
              </a:solidFill>
              <a:latin typeface="Quicksand"/>
              <a:ea typeface="Quicksand"/>
              <a:cs typeface="Quicksand"/>
              <a:sym typeface="Quicksand"/>
            </a:endParaRPr>
          </a:p>
          <a:p>
            <a:pPr marL="0" lvl="0" indent="0" algn="l" rtl="0">
              <a:spcBef>
                <a:spcPts val="400"/>
              </a:spcBef>
              <a:spcAft>
                <a:spcPts val="0"/>
              </a:spcAft>
              <a:buNone/>
            </a:pPr>
            <a:endParaRPr sz="1800">
              <a:solidFill>
                <a:schemeClr val="dk2"/>
              </a:solidFill>
            </a:endParaRPr>
          </a:p>
        </p:txBody>
      </p:sp>
      <p:sp>
        <p:nvSpPr>
          <p:cNvPr id="106" name="Google Shape;10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p19"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pic>
        <p:nvPicPr>
          <p:cNvPr id="112" name="Google Shape;112;p19" title="0baaa4cc7819679968525b3f66ae97a7-69d3bb0d2c059.jpg"/>
          <p:cNvPicPr preferRelativeResize="0"/>
          <p:nvPr/>
        </p:nvPicPr>
        <p:blipFill>
          <a:blip r:embed="rId4">
            <a:alphaModFix/>
          </a:blip>
          <a:stretch>
            <a:fillRect/>
          </a:stretch>
        </p:blipFill>
        <p:spPr>
          <a:xfrm>
            <a:off x="5315712" y="605700"/>
            <a:ext cx="3828287" cy="4537799"/>
          </a:xfrm>
          <a:prstGeom prst="rect">
            <a:avLst/>
          </a:prstGeom>
          <a:noFill/>
          <a:ln>
            <a:noFill/>
          </a:ln>
        </p:spPr>
      </p:pic>
      <p:sp>
        <p:nvSpPr>
          <p:cNvPr id="113" name="Google Shape;113;p19"/>
          <p:cNvSpPr/>
          <p:nvPr/>
        </p:nvSpPr>
        <p:spPr>
          <a:xfrm>
            <a:off x="0" y="0"/>
            <a:ext cx="9144000" cy="605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3000" b="1">
                <a:solidFill>
                  <a:srgbClr val="1A1A1A"/>
                </a:solidFill>
                <a:latin typeface="Quicksand"/>
                <a:ea typeface="Quicksand"/>
                <a:cs typeface="Quicksand"/>
                <a:sym typeface="Quicksand"/>
              </a:rPr>
              <a:t>Current Situation in Bangladesh</a:t>
            </a:r>
            <a:r>
              <a:rPr lang="en-GB" sz="3600" b="1">
                <a:solidFill>
                  <a:srgbClr val="1A1A1A"/>
                </a:solidFill>
              </a:rPr>
              <a:t> </a:t>
            </a:r>
            <a:endParaRPr/>
          </a:p>
        </p:txBody>
      </p:sp>
      <p:sp>
        <p:nvSpPr>
          <p:cNvPr id="114" name="Google Shape;114;p19"/>
          <p:cNvSpPr txBox="1"/>
          <p:nvPr/>
        </p:nvSpPr>
        <p:spPr>
          <a:xfrm>
            <a:off x="142050" y="1128875"/>
            <a:ext cx="5061300" cy="3524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GB" sz="1600" b="1">
                <a:solidFill>
                  <a:schemeClr val="dk1"/>
                </a:solidFill>
                <a:latin typeface="Quicksand"/>
                <a:ea typeface="Quicksand"/>
                <a:cs typeface="Quicksand"/>
                <a:sym typeface="Quicksand"/>
              </a:rPr>
              <a:t>3. Technical Shortcomings</a:t>
            </a:r>
            <a:endParaRPr sz="1600" b="1">
              <a:solidFill>
                <a:schemeClr val="dk1"/>
              </a:solidFill>
              <a:latin typeface="Quicksand"/>
              <a:ea typeface="Quicksand"/>
              <a:cs typeface="Quicksand"/>
              <a:sym typeface="Quicksand"/>
            </a:endParaRPr>
          </a:p>
          <a:p>
            <a:pPr marL="457200" lvl="0" indent="-330200" algn="l" rtl="0">
              <a:lnSpc>
                <a:spcPct val="115000"/>
              </a:lnSpc>
              <a:spcBef>
                <a:spcPts val="1200"/>
              </a:spcBef>
              <a:spcAft>
                <a:spcPts val="0"/>
              </a:spcAft>
              <a:buClr>
                <a:schemeClr val="dk1"/>
              </a:buClr>
              <a:buSzPts val="1600"/>
              <a:buChar char="●"/>
            </a:pPr>
            <a:r>
              <a:rPr lang="en-GB" sz="1600" b="1">
                <a:solidFill>
                  <a:schemeClr val="dk1"/>
                </a:solidFill>
                <a:latin typeface="Quicksand"/>
                <a:ea typeface="Quicksand"/>
                <a:cs typeface="Quicksand"/>
                <a:sym typeface="Quicksand"/>
              </a:rPr>
              <a:t>Static Estimation:</a:t>
            </a:r>
            <a:r>
              <a:rPr lang="en-GB" sz="1600">
                <a:solidFill>
                  <a:schemeClr val="dk1"/>
                </a:solidFill>
                <a:latin typeface="Quicksand"/>
                <a:ea typeface="Quicksand"/>
                <a:cs typeface="Quicksand"/>
                <a:sym typeface="Quicksand"/>
              </a:rPr>
              <a:t> Existing battery management systems use "fixed formulas" that don't account for real-time weather changes or panel degradation in tropical heat.</a:t>
            </a:r>
            <a:endParaRPr sz="1600">
              <a:solidFill>
                <a:schemeClr val="dk1"/>
              </a:solidFill>
              <a:latin typeface="Quicksand"/>
              <a:ea typeface="Quicksand"/>
              <a:cs typeface="Quicksand"/>
              <a:sym typeface="Quicksand"/>
            </a:endParaRPr>
          </a:p>
          <a:p>
            <a:pPr marL="457200" lvl="0" indent="-330200" algn="l" rtl="0">
              <a:lnSpc>
                <a:spcPct val="115000"/>
              </a:lnSpc>
              <a:spcBef>
                <a:spcPts val="0"/>
              </a:spcBef>
              <a:spcAft>
                <a:spcPts val="0"/>
              </a:spcAft>
              <a:buClr>
                <a:schemeClr val="dk1"/>
              </a:buClr>
              <a:buSzPts val="1600"/>
              <a:buChar char="●"/>
            </a:pPr>
            <a:r>
              <a:rPr lang="en-GB" sz="1600" b="1">
                <a:solidFill>
                  <a:schemeClr val="dk1"/>
                </a:solidFill>
                <a:latin typeface="Quicksand"/>
                <a:ea typeface="Quicksand"/>
                <a:cs typeface="Quicksand"/>
                <a:sym typeface="Quicksand"/>
              </a:rPr>
              <a:t>Data-Action Gap:</a:t>
            </a:r>
            <a:r>
              <a:rPr lang="en-GB" sz="1600">
                <a:solidFill>
                  <a:schemeClr val="dk1"/>
                </a:solidFill>
                <a:latin typeface="Quicksand"/>
                <a:ea typeface="Quicksand"/>
                <a:cs typeface="Quicksand"/>
                <a:sym typeface="Quicksand"/>
              </a:rPr>
              <a:t> There is a massive amount of solar data being generated, but it isn't being used to provide </a:t>
            </a:r>
            <a:r>
              <a:rPr lang="en-GB" sz="1600" b="1">
                <a:solidFill>
                  <a:schemeClr val="dk1"/>
                </a:solidFill>
                <a:latin typeface="Quicksand"/>
                <a:ea typeface="Quicksand"/>
                <a:cs typeface="Quicksand"/>
                <a:sym typeface="Quicksand"/>
              </a:rPr>
              <a:t>real-time, actionable insights</a:t>
            </a:r>
            <a:r>
              <a:rPr lang="en-GB" sz="1600">
                <a:solidFill>
                  <a:schemeClr val="dk1"/>
                </a:solidFill>
                <a:latin typeface="Quicksand"/>
                <a:ea typeface="Quicksand"/>
                <a:cs typeface="Quicksand"/>
                <a:sym typeface="Quicksand"/>
              </a:rPr>
              <a:t> for the average consumer.</a:t>
            </a:r>
            <a:endParaRPr sz="1600">
              <a:solidFill>
                <a:schemeClr val="dk1"/>
              </a:solidFill>
              <a:latin typeface="Quicksand"/>
              <a:ea typeface="Quicksand"/>
              <a:cs typeface="Quicksand"/>
              <a:sym typeface="Quicksand"/>
            </a:endParaRPr>
          </a:p>
          <a:p>
            <a:pPr marL="0" lvl="0" indent="0" algn="l" rtl="0">
              <a:lnSpc>
                <a:spcPct val="115000"/>
              </a:lnSpc>
              <a:spcBef>
                <a:spcPts val="1200"/>
              </a:spcBef>
              <a:spcAft>
                <a:spcPts val="0"/>
              </a:spcAft>
              <a:buNone/>
            </a:pPr>
            <a:endParaRPr sz="1600" b="1">
              <a:solidFill>
                <a:schemeClr val="dk1"/>
              </a:solidFill>
              <a:latin typeface="Quicksand"/>
              <a:ea typeface="Quicksand"/>
              <a:cs typeface="Quicksand"/>
              <a:sym typeface="Quicksand"/>
            </a:endParaRPr>
          </a:p>
          <a:p>
            <a:pPr marL="457200" lvl="0" indent="0" algn="l" rtl="0">
              <a:lnSpc>
                <a:spcPct val="115000"/>
              </a:lnSpc>
              <a:spcBef>
                <a:spcPts val="1200"/>
              </a:spcBef>
              <a:spcAft>
                <a:spcPts val="0"/>
              </a:spcAft>
              <a:buNone/>
            </a:pPr>
            <a:endParaRPr sz="1600" b="1">
              <a:solidFill>
                <a:schemeClr val="dk1"/>
              </a:solidFill>
              <a:latin typeface="Quicksand"/>
              <a:ea typeface="Quicksand"/>
              <a:cs typeface="Quicksand"/>
              <a:sym typeface="Quicksand"/>
            </a:endParaRPr>
          </a:p>
          <a:p>
            <a:pPr marL="0" lvl="0" indent="0" algn="l" rtl="0">
              <a:lnSpc>
                <a:spcPct val="115000"/>
              </a:lnSpc>
              <a:spcBef>
                <a:spcPts val="1400"/>
              </a:spcBef>
              <a:spcAft>
                <a:spcPts val="0"/>
              </a:spcAft>
              <a:buNone/>
            </a:pPr>
            <a:endParaRPr sz="1600" b="1">
              <a:solidFill>
                <a:schemeClr val="dk1"/>
              </a:solidFill>
              <a:latin typeface="Quicksand"/>
              <a:ea typeface="Quicksand"/>
              <a:cs typeface="Quicksand"/>
              <a:sym typeface="Quicksand"/>
            </a:endParaRPr>
          </a:p>
          <a:p>
            <a:pPr marL="0" lvl="0" indent="0" algn="l" rtl="0">
              <a:spcBef>
                <a:spcPts val="400"/>
              </a:spcBef>
              <a:spcAft>
                <a:spcPts val="0"/>
              </a:spcAft>
              <a:buNone/>
            </a:pPr>
            <a:endParaRPr sz="1800">
              <a:solidFill>
                <a:schemeClr val="dk2"/>
              </a:solidFill>
            </a:endParaRPr>
          </a:p>
        </p:txBody>
      </p:sp>
      <p:sp>
        <p:nvSpPr>
          <p:cNvPr id="115" name="Google Shape;115;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pic>
        <p:nvPicPr>
          <p:cNvPr id="120" name="Google Shape;120;p20"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sp>
        <p:nvSpPr>
          <p:cNvPr id="121" name="Google Shape;121;p20"/>
          <p:cNvSpPr txBox="1">
            <a:spLocks noGrp="1"/>
          </p:cNvSpPr>
          <p:nvPr>
            <p:ph type="title"/>
          </p:nvPr>
        </p:nvSpPr>
        <p:spPr>
          <a:xfrm>
            <a:off x="2863800" y="445025"/>
            <a:ext cx="34164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latin typeface="Quicksand"/>
                <a:ea typeface="Quicksand"/>
                <a:cs typeface="Quicksand"/>
                <a:sym typeface="Quicksand"/>
              </a:rPr>
              <a:t>Research Questions</a:t>
            </a:r>
            <a:endParaRPr b="1">
              <a:latin typeface="Quicksand"/>
              <a:ea typeface="Quicksand"/>
              <a:cs typeface="Quicksand"/>
              <a:sym typeface="Quicksand"/>
            </a:endParaRPr>
          </a:p>
        </p:txBody>
      </p:sp>
      <p:sp>
        <p:nvSpPr>
          <p:cNvPr id="122" name="Google Shape;122;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Clr>
                <a:schemeClr val="dk1"/>
              </a:buClr>
              <a:buSzPts val="1600"/>
              <a:buAutoNum type="arabicPeriod"/>
            </a:pPr>
            <a:r>
              <a:rPr lang="en-GB" sz="1600" b="1">
                <a:solidFill>
                  <a:schemeClr val="dk1"/>
                </a:solidFill>
                <a:latin typeface="Quicksand"/>
                <a:ea typeface="Quicksand"/>
                <a:cs typeface="Quicksand"/>
                <a:sym typeface="Quicksand"/>
              </a:rPr>
              <a:t>Weather Impact Analysis:</a:t>
            </a:r>
            <a:r>
              <a:rPr lang="en-GB" sz="1600">
                <a:solidFill>
                  <a:schemeClr val="dk1"/>
                </a:solidFill>
                <a:latin typeface="Quicksand"/>
                <a:ea typeface="Quicksand"/>
                <a:cs typeface="Quicksand"/>
                <a:sym typeface="Quicksand"/>
              </a:rPr>
              <a:t> How do dynamic, extreme tropical weather patterns (e.g., monsoon cloud cover and high summer heat) quantitatively impact solar panel efficiency in Bangladesh compared to theoretical baselines?</a:t>
            </a:r>
            <a:endParaRPr sz="1600">
              <a:solidFill>
                <a:schemeClr val="dk1"/>
              </a:solidFill>
              <a:latin typeface="Quicksand"/>
              <a:ea typeface="Quicksand"/>
              <a:cs typeface="Quicksand"/>
              <a:sym typeface="Quicksand"/>
            </a:endParaRPr>
          </a:p>
          <a:p>
            <a:pPr marL="457200" lvl="0" indent="-330200" algn="l" rtl="0">
              <a:lnSpc>
                <a:spcPct val="115000"/>
              </a:lnSpc>
              <a:spcBef>
                <a:spcPts val="0"/>
              </a:spcBef>
              <a:spcAft>
                <a:spcPts val="0"/>
              </a:spcAft>
              <a:buClr>
                <a:schemeClr val="dk1"/>
              </a:buClr>
              <a:buSzPts val="1600"/>
              <a:buFont typeface="Quicksand"/>
              <a:buAutoNum type="arabicPeriod"/>
            </a:pPr>
            <a:r>
              <a:rPr lang="en-GB" sz="1600" b="1">
                <a:solidFill>
                  <a:schemeClr val="dk1"/>
                </a:solidFill>
                <a:latin typeface="Quicksand"/>
                <a:ea typeface="Quicksand"/>
                <a:cs typeface="Quicksand"/>
                <a:sym typeface="Quicksand"/>
              </a:rPr>
              <a:t>Machine Learning vs. Traditional Models:</a:t>
            </a:r>
            <a:r>
              <a:rPr lang="en-GB" sz="1600">
                <a:solidFill>
                  <a:schemeClr val="dk1"/>
                </a:solidFill>
                <a:latin typeface="Quicksand"/>
                <a:ea typeface="Quicksand"/>
                <a:cs typeface="Quicksand"/>
                <a:sym typeface="Quicksand"/>
              </a:rPr>
              <a:t> To what extent do advanced ensemble ML models (like LightGBM and Random Forest) outperform static mathematical formulas in forecasting solar generation under unpredictable weather conditions?</a:t>
            </a:r>
            <a:endParaRPr sz="1600">
              <a:solidFill>
                <a:schemeClr val="dk1"/>
              </a:solidFill>
              <a:latin typeface="Quicksand"/>
              <a:ea typeface="Quicksand"/>
              <a:cs typeface="Quicksand"/>
              <a:sym typeface="Quicksand"/>
            </a:endParaRPr>
          </a:p>
          <a:p>
            <a:pPr marL="457200" lvl="0" indent="-330200" algn="l" rtl="0">
              <a:lnSpc>
                <a:spcPct val="115000"/>
              </a:lnSpc>
              <a:spcBef>
                <a:spcPts val="0"/>
              </a:spcBef>
              <a:spcAft>
                <a:spcPts val="0"/>
              </a:spcAft>
              <a:buClr>
                <a:schemeClr val="dk1"/>
              </a:buClr>
              <a:buSzPts val="1600"/>
              <a:buFont typeface="Quicksand"/>
              <a:buAutoNum type="arabicPeriod"/>
            </a:pPr>
            <a:r>
              <a:rPr lang="en-GB" sz="1600" b="1">
                <a:solidFill>
                  <a:schemeClr val="dk1"/>
                </a:solidFill>
                <a:latin typeface="Quicksand"/>
                <a:ea typeface="Quicksand"/>
                <a:cs typeface="Quicksand"/>
                <a:sym typeface="Quicksand"/>
              </a:rPr>
              <a:t>Actionable Resilience:</a:t>
            </a:r>
            <a:r>
              <a:rPr lang="en-GB" sz="1600">
                <a:solidFill>
                  <a:schemeClr val="dk1"/>
                </a:solidFill>
                <a:latin typeface="Quicksand"/>
                <a:ea typeface="Quicksand"/>
                <a:cs typeface="Quicksand"/>
                <a:sym typeface="Quicksand"/>
              </a:rPr>
              <a:t> How can predicted solar generation be accurately converted into reliable battery backup duration to help end-users mitigate the effects of frequent load-shedding?</a:t>
            </a:r>
            <a:endParaRPr sz="2100">
              <a:solidFill>
                <a:schemeClr val="dk1"/>
              </a:solidFill>
              <a:latin typeface="Quicksand"/>
              <a:ea typeface="Quicksand"/>
              <a:cs typeface="Quicksand"/>
              <a:sym typeface="Quicksand"/>
            </a:endParaRPr>
          </a:p>
        </p:txBody>
      </p:sp>
      <p:pic>
        <p:nvPicPr>
          <p:cNvPr id="123" name="Google Shape;123;p20" descr="a black and white drawing of a question mark with a circle in the middle . (provided by Tenor)"/>
          <p:cNvPicPr preferRelativeResize="0"/>
          <p:nvPr/>
        </p:nvPicPr>
        <p:blipFill>
          <a:blip r:embed="rId4">
            <a:alphaModFix amt="9000"/>
          </a:blip>
          <a:stretch>
            <a:fillRect/>
          </a:stretch>
        </p:blipFill>
        <p:spPr>
          <a:xfrm>
            <a:off x="2828025" y="863550"/>
            <a:ext cx="3416400" cy="3416400"/>
          </a:xfrm>
          <a:prstGeom prst="rect">
            <a:avLst/>
          </a:prstGeom>
          <a:noFill/>
          <a:ln>
            <a:noFill/>
          </a:ln>
        </p:spPr>
      </p:pic>
      <p:pic>
        <p:nvPicPr>
          <p:cNvPr id="124" name="Google Shape;124;p20"/>
          <p:cNvPicPr preferRelativeResize="0"/>
          <p:nvPr/>
        </p:nvPicPr>
        <p:blipFill>
          <a:blip r:embed="rId5">
            <a:alphaModFix/>
          </a:blip>
          <a:stretch>
            <a:fillRect/>
          </a:stretch>
        </p:blipFill>
        <p:spPr>
          <a:xfrm>
            <a:off x="0" y="0"/>
            <a:ext cx="1350175" cy="1118700"/>
          </a:xfrm>
          <a:prstGeom prst="rect">
            <a:avLst/>
          </a:prstGeom>
          <a:noFill/>
          <a:ln>
            <a:noFill/>
          </a:ln>
        </p:spPr>
      </p:pic>
      <p:sp>
        <p:nvSpPr>
          <p:cNvPr id="125" name="Google Shape;125;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21"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sp>
        <p:nvSpPr>
          <p:cNvPr id="131" name="Google Shape;131;p21"/>
          <p:cNvSpPr txBox="1">
            <a:spLocks noGrp="1"/>
          </p:cNvSpPr>
          <p:nvPr>
            <p:ph type="title"/>
          </p:nvPr>
        </p:nvSpPr>
        <p:spPr>
          <a:xfrm>
            <a:off x="3866175" y="273000"/>
            <a:ext cx="3467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2720" b="1">
                <a:latin typeface="Quicksand"/>
                <a:ea typeface="Quicksand"/>
                <a:cs typeface="Quicksand"/>
                <a:sym typeface="Quicksand"/>
              </a:rPr>
              <a:t>Project Objectives</a:t>
            </a:r>
            <a:endParaRPr sz="2720" b="1">
              <a:latin typeface="Quicksand"/>
              <a:ea typeface="Quicksand"/>
              <a:cs typeface="Quicksand"/>
              <a:sym typeface="Quicksand"/>
            </a:endParaRPr>
          </a:p>
        </p:txBody>
      </p:sp>
      <p:pic>
        <p:nvPicPr>
          <p:cNvPr id="132" name="Google Shape;132;p21"/>
          <p:cNvPicPr preferRelativeResize="0"/>
          <p:nvPr/>
        </p:nvPicPr>
        <p:blipFill>
          <a:blip r:embed="rId4">
            <a:alphaModFix/>
          </a:blip>
          <a:stretch>
            <a:fillRect/>
          </a:stretch>
        </p:blipFill>
        <p:spPr>
          <a:xfrm>
            <a:off x="0" y="0"/>
            <a:ext cx="1350175" cy="1118700"/>
          </a:xfrm>
          <a:prstGeom prst="rect">
            <a:avLst/>
          </a:prstGeom>
          <a:noFill/>
          <a:ln>
            <a:noFill/>
          </a:ln>
        </p:spPr>
      </p:pic>
      <p:pic>
        <p:nvPicPr>
          <p:cNvPr id="133" name="Google Shape;133;p21"/>
          <p:cNvPicPr preferRelativeResize="0"/>
          <p:nvPr/>
        </p:nvPicPr>
        <p:blipFill>
          <a:blip r:embed="rId4">
            <a:alphaModFix/>
          </a:blip>
          <a:stretch>
            <a:fillRect/>
          </a:stretch>
        </p:blipFill>
        <p:spPr>
          <a:xfrm>
            <a:off x="0" y="0"/>
            <a:ext cx="1350175" cy="1118700"/>
          </a:xfrm>
          <a:prstGeom prst="rect">
            <a:avLst/>
          </a:prstGeom>
          <a:noFill/>
          <a:ln>
            <a:noFill/>
          </a:ln>
        </p:spPr>
      </p:pic>
      <p:pic>
        <p:nvPicPr>
          <p:cNvPr id="134" name="Google Shape;134;p21" title="a-solar-energy-panel-is-seen-on-the-rooftops-of-buildings-in-dhaka-capital-city-in-bangladesh-on-october-30-2018-dhaka-citys-house-owners-installe-R07WHR (1).jpg"/>
          <p:cNvPicPr preferRelativeResize="0"/>
          <p:nvPr/>
        </p:nvPicPr>
        <p:blipFill>
          <a:blip r:embed="rId5">
            <a:alphaModFix/>
          </a:blip>
          <a:stretch>
            <a:fillRect/>
          </a:stretch>
        </p:blipFill>
        <p:spPr>
          <a:xfrm>
            <a:off x="0" y="1071950"/>
            <a:ext cx="3722999" cy="3984876"/>
          </a:xfrm>
          <a:prstGeom prst="rect">
            <a:avLst/>
          </a:prstGeom>
          <a:noFill/>
          <a:ln>
            <a:noFill/>
          </a:ln>
        </p:spPr>
      </p:pic>
      <p:sp>
        <p:nvSpPr>
          <p:cNvPr id="135" name="Google Shape;135;p21"/>
          <p:cNvSpPr txBox="1"/>
          <p:nvPr/>
        </p:nvSpPr>
        <p:spPr>
          <a:xfrm>
            <a:off x="3723000" y="905200"/>
            <a:ext cx="5421000" cy="39774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Quicksand"/>
              <a:buChar char="●"/>
            </a:pPr>
            <a:r>
              <a:rPr lang="en-GB" sz="1600" b="1">
                <a:solidFill>
                  <a:schemeClr val="dk1"/>
                </a:solidFill>
                <a:latin typeface="Quicksand"/>
                <a:ea typeface="Quicksand"/>
                <a:cs typeface="Quicksand"/>
                <a:sym typeface="Quicksand"/>
              </a:rPr>
              <a:t>Objective 1:</a:t>
            </a:r>
            <a:r>
              <a:rPr lang="en-GB" sz="1600">
                <a:solidFill>
                  <a:schemeClr val="dk1"/>
                </a:solidFill>
                <a:latin typeface="Quicksand"/>
                <a:ea typeface="Quicksand"/>
                <a:cs typeface="Quicksand"/>
                <a:sym typeface="Quicksand"/>
              </a:rPr>
              <a:t> Performance Benchmarking of ML Algorithms</a:t>
            </a:r>
            <a:endParaRPr sz="1600">
              <a:solidFill>
                <a:schemeClr val="dk1"/>
              </a:solidFill>
              <a:latin typeface="Quicksand"/>
              <a:ea typeface="Quicksand"/>
              <a:cs typeface="Quicksand"/>
              <a:sym typeface="Quicksand"/>
            </a:endParaRPr>
          </a:p>
          <a:p>
            <a:pPr marL="914400" lvl="1" indent="-298450" algn="l" rtl="0">
              <a:spcBef>
                <a:spcPts val="0"/>
              </a:spcBef>
              <a:spcAft>
                <a:spcPts val="0"/>
              </a:spcAft>
              <a:buClr>
                <a:schemeClr val="dk1"/>
              </a:buClr>
              <a:buSzPts val="1100"/>
              <a:buFont typeface="Quicksand"/>
              <a:buChar char="○"/>
            </a:pPr>
            <a:r>
              <a:rPr lang="en-GB" sz="1100">
                <a:solidFill>
                  <a:schemeClr val="dk1"/>
                </a:solidFill>
                <a:latin typeface="Quicksand"/>
                <a:ea typeface="Quicksand"/>
                <a:cs typeface="Quicksand"/>
                <a:sym typeface="Quicksand"/>
              </a:rPr>
              <a:t>To evaluate and compare the predictive accuracy of five machine learning models in forecasting solar irradiance specifically within the tropical climatic conditions of Bangladesh.</a:t>
            </a:r>
            <a:endParaRPr sz="1100">
              <a:solidFill>
                <a:schemeClr val="dk1"/>
              </a:solidFill>
              <a:latin typeface="Quicksand"/>
              <a:ea typeface="Quicksand"/>
              <a:cs typeface="Quicksand"/>
              <a:sym typeface="Quicksand"/>
            </a:endParaRPr>
          </a:p>
          <a:p>
            <a:pPr marL="914400" lvl="0" indent="0" algn="l" rtl="0">
              <a:spcBef>
                <a:spcPts val="0"/>
              </a:spcBef>
              <a:spcAft>
                <a:spcPts val="0"/>
              </a:spcAft>
              <a:buNone/>
            </a:pPr>
            <a:endParaRPr sz="1100">
              <a:solidFill>
                <a:schemeClr val="dk1"/>
              </a:solidFill>
              <a:latin typeface="Quicksand"/>
              <a:ea typeface="Quicksand"/>
              <a:cs typeface="Quicksand"/>
              <a:sym typeface="Quicksand"/>
            </a:endParaRPr>
          </a:p>
          <a:p>
            <a:pPr marL="457200" lvl="0" indent="-330200" algn="l" rtl="0">
              <a:spcBef>
                <a:spcPts val="0"/>
              </a:spcBef>
              <a:spcAft>
                <a:spcPts val="0"/>
              </a:spcAft>
              <a:buClr>
                <a:schemeClr val="dk1"/>
              </a:buClr>
              <a:buSzPts val="1600"/>
              <a:buFont typeface="Quicksand"/>
              <a:buChar char="●"/>
            </a:pPr>
            <a:r>
              <a:rPr lang="en-GB" sz="1600" b="1">
                <a:solidFill>
                  <a:schemeClr val="dk1"/>
                </a:solidFill>
                <a:latin typeface="Quicksand"/>
                <a:ea typeface="Quicksand"/>
                <a:cs typeface="Quicksand"/>
                <a:sym typeface="Quicksand"/>
              </a:rPr>
              <a:t>Objective 2: </a:t>
            </a:r>
            <a:r>
              <a:rPr lang="en-GB" sz="1600">
                <a:solidFill>
                  <a:schemeClr val="dk1"/>
                </a:solidFill>
                <a:latin typeface="Quicksand"/>
                <a:ea typeface="Quicksand"/>
                <a:cs typeface="Quicksand"/>
                <a:sym typeface="Quicksand"/>
              </a:rPr>
              <a:t>Development of a Hybrid Prediction Framework</a:t>
            </a:r>
            <a:endParaRPr sz="1600">
              <a:solidFill>
                <a:schemeClr val="dk1"/>
              </a:solidFill>
              <a:latin typeface="Quicksand"/>
              <a:ea typeface="Quicksand"/>
              <a:cs typeface="Quicksand"/>
              <a:sym typeface="Quicksand"/>
            </a:endParaRPr>
          </a:p>
          <a:p>
            <a:pPr marL="914400" lvl="1" indent="-298450" algn="l" rtl="0">
              <a:spcBef>
                <a:spcPts val="0"/>
              </a:spcBef>
              <a:spcAft>
                <a:spcPts val="0"/>
              </a:spcAft>
              <a:buClr>
                <a:schemeClr val="dk1"/>
              </a:buClr>
              <a:buSzPts val="1100"/>
              <a:buFont typeface="Quicksand"/>
              <a:buChar char="○"/>
            </a:pPr>
            <a:r>
              <a:rPr lang="en-GB" sz="1100">
                <a:solidFill>
                  <a:schemeClr val="dk1"/>
                </a:solidFill>
                <a:latin typeface="Quicksand"/>
                <a:ea typeface="Quicksand"/>
                <a:cs typeface="Quicksand"/>
                <a:sym typeface="Quicksand"/>
              </a:rPr>
              <a:t>To design a hybrid system that integrates traditional </a:t>
            </a:r>
            <a:r>
              <a:rPr lang="en-GB" sz="1100" b="1">
                <a:solidFill>
                  <a:schemeClr val="dk1"/>
                </a:solidFill>
                <a:latin typeface="Quicksand"/>
                <a:ea typeface="Quicksand"/>
                <a:cs typeface="Quicksand"/>
                <a:sym typeface="Quicksand"/>
              </a:rPr>
              <a:t>Photovoltaic (PV) physics equations</a:t>
            </a:r>
            <a:r>
              <a:rPr lang="en-GB" sz="1100">
                <a:solidFill>
                  <a:schemeClr val="dk1"/>
                </a:solidFill>
                <a:latin typeface="Quicksand"/>
                <a:ea typeface="Quicksand"/>
                <a:cs typeface="Quicksand"/>
                <a:sym typeface="Quicksand"/>
              </a:rPr>
              <a:t> with real-time ML data to minimize error margins caused by volatile weather patterns like monsoon cloud cover.</a:t>
            </a:r>
            <a:endParaRPr sz="1100">
              <a:solidFill>
                <a:schemeClr val="dk1"/>
              </a:solidFill>
              <a:latin typeface="Quicksand"/>
              <a:ea typeface="Quicksand"/>
              <a:cs typeface="Quicksand"/>
              <a:sym typeface="Quicksand"/>
            </a:endParaRPr>
          </a:p>
          <a:p>
            <a:pPr marL="914400" lvl="0" indent="0" algn="l" rtl="0">
              <a:spcBef>
                <a:spcPts val="0"/>
              </a:spcBef>
              <a:spcAft>
                <a:spcPts val="0"/>
              </a:spcAft>
              <a:buNone/>
            </a:pPr>
            <a:endParaRPr sz="1100">
              <a:solidFill>
                <a:schemeClr val="dk1"/>
              </a:solidFill>
              <a:latin typeface="Quicksand"/>
              <a:ea typeface="Quicksand"/>
              <a:cs typeface="Quicksand"/>
              <a:sym typeface="Quicksand"/>
            </a:endParaRPr>
          </a:p>
          <a:p>
            <a:pPr marL="457200" lvl="0" indent="-330200" algn="l" rtl="0">
              <a:spcBef>
                <a:spcPts val="0"/>
              </a:spcBef>
              <a:spcAft>
                <a:spcPts val="0"/>
              </a:spcAft>
              <a:buClr>
                <a:schemeClr val="dk1"/>
              </a:buClr>
              <a:buSzPts val="1600"/>
              <a:buFont typeface="Quicksand"/>
              <a:buChar char="●"/>
            </a:pPr>
            <a:r>
              <a:rPr lang="en-GB" sz="1600" b="1">
                <a:solidFill>
                  <a:schemeClr val="dk1"/>
                </a:solidFill>
                <a:latin typeface="Quicksand"/>
                <a:ea typeface="Quicksand"/>
                <a:cs typeface="Quicksand"/>
                <a:sym typeface="Quicksand"/>
              </a:rPr>
              <a:t>Objective 3:</a:t>
            </a:r>
            <a:r>
              <a:rPr lang="en-GB" sz="1600">
                <a:solidFill>
                  <a:schemeClr val="dk1"/>
                </a:solidFill>
                <a:latin typeface="Quicksand"/>
                <a:ea typeface="Quicksand"/>
                <a:cs typeface="Quicksand"/>
                <a:sym typeface="Quicksand"/>
              </a:rPr>
              <a:t> Implementation of a User-Centric Decision Tool</a:t>
            </a:r>
            <a:endParaRPr sz="1600">
              <a:solidFill>
                <a:schemeClr val="dk1"/>
              </a:solidFill>
              <a:latin typeface="Quicksand"/>
              <a:ea typeface="Quicksand"/>
              <a:cs typeface="Quicksand"/>
              <a:sym typeface="Quicksand"/>
            </a:endParaRPr>
          </a:p>
          <a:p>
            <a:pPr marL="914400" lvl="1" indent="-298450" algn="l" rtl="0">
              <a:spcBef>
                <a:spcPts val="0"/>
              </a:spcBef>
              <a:spcAft>
                <a:spcPts val="0"/>
              </a:spcAft>
              <a:buClr>
                <a:schemeClr val="dk1"/>
              </a:buClr>
              <a:buSzPts val="1100"/>
              <a:buFont typeface="Quicksand"/>
              <a:buChar char="○"/>
            </a:pPr>
            <a:r>
              <a:rPr lang="en-GB" sz="1100">
                <a:solidFill>
                  <a:schemeClr val="dk1"/>
                </a:solidFill>
                <a:latin typeface="Quicksand"/>
                <a:ea typeface="Quicksand"/>
                <a:cs typeface="Quicksand"/>
                <a:sym typeface="Quicksand"/>
              </a:rPr>
              <a:t>To deploy an interactive </a:t>
            </a:r>
            <a:r>
              <a:rPr lang="en-GB" sz="1100" b="1">
                <a:solidFill>
                  <a:schemeClr val="dk1"/>
                </a:solidFill>
                <a:latin typeface="Quicksand"/>
                <a:ea typeface="Quicksand"/>
                <a:cs typeface="Quicksand"/>
                <a:sym typeface="Quicksand"/>
              </a:rPr>
              <a:t>Streamlit dashboard</a:t>
            </a:r>
            <a:r>
              <a:rPr lang="en-GB" sz="1100">
                <a:solidFill>
                  <a:schemeClr val="dk1"/>
                </a:solidFill>
                <a:latin typeface="Quicksand"/>
                <a:ea typeface="Quicksand"/>
                <a:cs typeface="Quicksand"/>
                <a:sym typeface="Quicksand"/>
              </a:rPr>
              <a:t> that translates complex energy predictions into actionable insights, specifically calculating real-time </a:t>
            </a:r>
            <a:r>
              <a:rPr lang="en-GB" sz="1100" b="1">
                <a:solidFill>
                  <a:schemeClr val="dk1"/>
                </a:solidFill>
                <a:latin typeface="Quicksand"/>
                <a:ea typeface="Quicksand"/>
                <a:cs typeface="Quicksand"/>
                <a:sym typeface="Quicksand"/>
              </a:rPr>
              <a:t>battery backup duration</a:t>
            </a:r>
            <a:r>
              <a:rPr lang="en-GB" sz="1100">
                <a:solidFill>
                  <a:schemeClr val="dk1"/>
                </a:solidFill>
                <a:latin typeface="Quicksand"/>
                <a:ea typeface="Quicksand"/>
                <a:cs typeface="Quicksand"/>
                <a:sym typeface="Quicksand"/>
              </a:rPr>
              <a:t> to help users mitigate the impact of load-shedding.</a:t>
            </a:r>
            <a:endParaRPr sz="1100">
              <a:solidFill>
                <a:schemeClr val="dk1"/>
              </a:solidFill>
              <a:latin typeface="Quicksand"/>
              <a:ea typeface="Quicksand"/>
              <a:cs typeface="Quicksand"/>
              <a:sym typeface="Quicksand"/>
            </a:endParaRPr>
          </a:p>
        </p:txBody>
      </p:sp>
      <p:sp>
        <p:nvSpPr>
          <p:cNvPr id="136" name="Google Shape;136;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Google Shape;141;p22"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sp>
        <p:nvSpPr>
          <p:cNvPr id="142" name="Google Shape;142;p22"/>
          <p:cNvSpPr txBox="1">
            <a:spLocks noGrp="1"/>
          </p:cNvSpPr>
          <p:nvPr>
            <p:ph type="title"/>
          </p:nvPr>
        </p:nvSpPr>
        <p:spPr>
          <a:xfrm>
            <a:off x="405150" y="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3040" b="1">
                <a:latin typeface="Quicksand"/>
                <a:ea typeface="Quicksand"/>
                <a:cs typeface="Quicksand"/>
                <a:sym typeface="Quicksand"/>
              </a:rPr>
              <a:t>Literature Review</a:t>
            </a:r>
            <a:endParaRPr sz="2320">
              <a:latin typeface="Quicksand"/>
              <a:ea typeface="Quicksand"/>
              <a:cs typeface="Quicksand"/>
              <a:sym typeface="Quicksand"/>
            </a:endParaRPr>
          </a:p>
        </p:txBody>
      </p:sp>
      <p:graphicFrame>
        <p:nvGraphicFramePr>
          <p:cNvPr id="143" name="Google Shape;143;p22"/>
          <p:cNvGraphicFramePr/>
          <p:nvPr/>
        </p:nvGraphicFramePr>
        <p:xfrm>
          <a:off x="481525" y="647475"/>
          <a:ext cx="3000000" cy="3000000"/>
        </p:xfrm>
        <a:graphic>
          <a:graphicData uri="http://schemas.openxmlformats.org/drawingml/2006/table">
            <a:tbl>
              <a:tblPr>
                <a:noFill/>
                <a:tableStyleId>{01655F76-E95F-4D1A-90EE-E8038F89BB30}</a:tableStyleId>
              </a:tblPr>
              <a:tblGrid>
                <a:gridCol w="1394650">
                  <a:extLst>
                    <a:ext uri="{9D8B030D-6E8A-4147-A177-3AD203B41FA5}">
                      <a16:colId xmlns:a16="http://schemas.microsoft.com/office/drawing/2014/main" val="20000"/>
                    </a:ext>
                  </a:extLst>
                </a:gridCol>
                <a:gridCol w="1550175">
                  <a:extLst>
                    <a:ext uri="{9D8B030D-6E8A-4147-A177-3AD203B41FA5}">
                      <a16:colId xmlns:a16="http://schemas.microsoft.com/office/drawing/2014/main" val="20001"/>
                    </a:ext>
                  </a:extLst>
                </a:gridCol>
                <a:gridCol w="1368750">
                  <a:extLst>
                    <a:ext uri="{9D8B030D-6E8A-4147-A177-3AD203B41FA5}">
                      <a16:colId xmlns:a16="http://schemas.microsoft.com/office/drawing/2014/main" val="20002"/>
                    </a:ext>
                  </a:extLst>
                </a:gridCol>
                <a:gridCol w="1411925">
                  <a:extLst>
                    <a:ext uri="{9D8B030D-6E8A-4147-A177-3AD203B41FA5}">
                      <a16:colId xmlns:a16="http://schemas.microsoft.com/office/drawing/2014/main" val="20003"/>
                    </a:ext>
                  </a:extLst>
                </a:gridCol>
                <a:gridCol w="1446450">
                  <a:extLst>
                    <a:ext uri="{9D8B030D-6E8A-4147-A177-3AD203B41FA5}">
                      <a16:colId xmlns:a16="http://schemas.microsoft.com/office/drawing/2014/main" val="20004"/>
                    </a:ext>
                  </a:extLst>
                </a:gridCol>
                <a:gridCol w="1195900">
                  <a:extLst>
                    <a:ext uri="{9D8B030D-6E8A-4147-A177-3AD203B41FA5}">
                      <a16:colId xmlns:a16="http://schemas.microsoft.com/office/drawing/2014/main" val="20005"/>
                    </a:ext>
                  </a:extLst>
                </a:gridCol>
              </a:tblGrid>
              <a:tr h="502725">
                <a:tc>
                  <a:txBody>
                    <a:bodyPr/>
                    <a:lstStyle/>
                    <a:p>
                      <a:pPr marL="0" lvl="0" indent="0" algn="just" rtl="0">
                        <a:lnSpc>
                          <a:spcPct val="115000"/>
                        </a:lnSpc>
                        <a:spcBef>
                          <a:spcPts val="0"/>
                        </a:spcBef>
                        <a:spcAft>
                          <a:spcPts val="0"/>
                        </a:spcAft>
                        <a:buClr>
                          <a:schemeClr val="dk1"/>
                        </a:buClr>
                        <a:buSzPts val="1100"/>
                        <a:buFont typeface="Arial"/>
                        <a:buNone/>
                      </a:pPr>
                      <a:r>
                        <a:rPr lang="en-GB" sz="1000">
                          <a:latin typeface="Quicksand"/>
                          <a:ea typeface="Quicksand"/>
                          <a:cs typeface="Quicksand"/>
                          <a:sym typeface="Quicksand"/>
                        </a:rPr>
                        <a:t>Authors &amp;  Year</a:t>
                      </a:r>
                      <a:endParaRPr sz="1000">
                        <a:latin typeface="Quicksand"/>
                        <a:ea typeface="Quicksand"/>
                        <a:cs typeface="Quicksand"/>
                        <a:sym typeface="Quicksand"/>
                      </a:endParaRPr>
                    </a:p>
                    <a:p>
                      <a:pPr marL="0" lvl="0" indent="0" algn="l" rtl="0">
                        <a:spcBef>
                          <a:spcPts val="0"/>
                        </a:spcBef>
                        <a:spcAft>
                          <a:spcPts val="0"/>
                        </a:spcAft>
                        <a:buNone/>
                      </a:pPr>
                      <a:endParaRPr sz="1000"/>
                    </a:p>
                  </a:txBody>
                  <a:tcPr marL="91425" marR="91425" marT="91425" marB="91425"/>
                </a:tc>
                <a:tc>
                  <a:txBody>
                    <a:bodyPr/>
                    <a:lstStyle/>
                    <a:p>
                      <a:pPr marL="0" lvl="0" indent="0" algn="ctr" rtl="0">
                        <a:spcBef>
                          <a:spcPts val="0"/>
                        </a:spcBef>
                        <a:spcAft>
                          <a:spcPts val="0"/>
                        </a:spcAft>
                        <a:buNone/>
                      </a:pPr>
                      <a:r>
                        <a:rPr lang="en-GB" sz="1000">
                          <a:latin typeface="Quicksand"/>
                          <a:ea typeface="Quicksand"/>
                          <a:cs typeface="Quicksand"/>
                          <a:sym typeface="Quicksand"/>
                        </a:rPr>
                        <a:t>Title</a:t>
                      </a:r>
                      <a:endParaRPr sz="1000">
                        <a:latin typeface="Quicksand"/>
                        <a:ea typeface="Quicksand"/>
                        <a:cs typeface="Quicksand"/>
                        <a:sym typeface="Quicksand"/>
                      </a:endParaRPr>
                    </a:p>
                  </a:txBody>
                  <a:tcPr marL="91425" marR="91425" marT="91425" marB="91425"/>
                </a:tc>
                <a:tc>
                  <a:txBody>
                    <a:bodyPr/>
                    <a:lstStyle/>
                    <a:p>
                      <a:pPr marL="0" lvl="0" indent="0" algn="ctr" rtl="0">
                        <a:spcBef>
                          <a:spcPts val="0"/>
                        </a:spcBef>
                        <a:spcAft>
                          <a:spcPts val="0"/>
                        </a:spcAft>
                        <a:buNone/>
                      </a:pPr>
                      <a:r>
                        <a:rPr lang="en-GB" sz="1000">
                          <a:latin typeface="Quicksand"/>
                          <a:ea typeface="Quicksand"/>
                          <a:cs typeface="Quicksand"/>
                          <a:sym typeface="Quicksand"/>
                        </a:rPr>
                        <a:t>Main Idea</a:t>
                      </a:r>
                      <a:endParaRPr sz="1000">
                        <a:latin typeface="Quicksand"/>
                        <a:ea typeface="Quicksand"/>
                        <a:cs typeface="Quicksand"/>
                        <a:sym typeface="Quicksand"/>
                      </a:endParaRPr>
                    </a:p>
                  </a:txBody>
                  <a:tcPr marL="91425" marR="91425" marT="91425" marB="91425"/>
                </a:tc>
                <a:tc>
                  <a:txBody>
                    <a:bodyPr/>
                    <a:lstStyle/>
                    <a:p>
                      <a:pPr marL="0" lvl="0" indent="0" algn="ctr" rtl="0">
                        <a:spcBef>
                          <a:spcPts val="0"/>
                        </a:spcBef>
                        <a:spcAft>
                          <a:spcPts val="0"/>
                        </a:spcAft>
                        <a:buNone/>
                      </a:pPr>
                      <a:r>
                        <a:rPr lang="en-GB" sz="1000">
                          <a:latin typeface="Quicksand"/>
                          <a:ea typeface="Quicksand"/>
                          <a:cs typeface="Quicksand"/>
                          <a:sym typeface="Quicksand"/>
                        </a:rPr>
                        <a:t>Methodology</a:t>
                      </a:r>
                      <a:endParaRPr sz="1000">
                        <a:latin typeface="Quicksand"/>
                        <a:ea typeface="Quicksand"/>
                        <a:cs typeface="Quicksand"/>
                        <a:sym typeface="Quicksand"/>
                      </a:endParaRPr>
                    </a:p>
                  </a:txBody>
                  <a:tcPr marL="91425" marR="91425" marT="91425" marB="91425"/>
                </a:tc>
                <a:tc>
                  <a:txBody>
                    <a:bodyPr/>
                    <a:lstStyle/>
                    <a:p>
                      <a:pPr marL="0" lvl="0" indent="0" algn="ctr" rtl="0">
                        <a:lnSpc>
                          <a:spcPct val="115000"/>
                        </a:lnSpc>
                        <a:spcBef>
                          <a:spcPts val="0"/>
                        </a:spcBef>
                        <a:spcAft>
                          <a:spcPts val="0"/>
                        </a:spcAft>
                        <a:buClr>
                          <a:schemeClr val="dk1"/>
                        </a:buClr>
                        <a:buSzPts val="1100"/>
                        <a:buFont typeface="Arial"/>
                        <a:buNone/>
                      </a:pPr>
                      <a:r>
                        <a:rPr lang="en-GB" sz="1000">
                          <a:latin typeface="Quicksand"/>
                          <a:ea typeface="Quicksand"/>
                          <a:cs typeface="Quicksand"/>
                          <a:sym typeface="Quicksand"/>
                        </a:rPr>
                        <a:t>Key Findings</a:t>
                      </a:r>
                      <a:endParaRPr sz="1000">
                        <a:latin typeface="Quicksand"/>
                        <a:ea typeface="Quicksand"/>
                        <a:cs typeface="Quicksand"/>
                        <a:sym typeface="Quicksand"/>
                      </a:endParaRPr>
                    </a:p>
                    <a:p>
                      <a:pPr marL="0" lvl="0" indent="0" algn="l" rtl="0">
                        <a:spcBef>
                          <a:spcPts val="0"/>
                        </a:spcBef>
                        <a:spcAft>
                          <a:spcPts val="0"/>
                        </a:spcAft>
                        <a:buNone/>
                      </a:pPr>
                      <a:endParaRPr sz="1000"/>
                    </a:p>
                  </a:txBody>
                  <a:tcPr marL="91425" marR="91425" marT="91425" marB="91425"/>
                </a:tc>
                <a:tc>
                  <a:txBody>
                    <a:bodyPr/>
                    <a:lstStyle/>
                    <a:p>
                      <a:pPr marL="0" lvl="0" indent="0" algn="ctr" rtl="0">
                        <a:lnSpc>
                          <a:spcPct val="115000"/>
                        </a:lnSpc>
                        <a:spcBef>
                          <a:spcPts val="0"/>
                        </a:spcBef>
                        <a:spcAft>
                          <a:spcPts val="0"/>
                        </a:spcAft>
                        <a:buClr>
                          <a:schemeClr val="dk1"/>
                        </a:buClr>
                        <a:buSzPts val="1100"/>
                        <a:buFont typeface="Arial"/>
                        <a:buNone/>
                      </a:pPr>
                      <a:r>
                        <a:rPr lang="en-GB" sz="1000">
                          <a:latin typeface="Quicksand"/>
                          <a:ea typeface="Quicksand"/>
                          <a:cs typeface="Quicksand"/>
                          <a:sym typeface="Quicksand"/>
                        </a:rPr>
                        <a:t>Limitations</a:t>
                      </a:r>
                      <a:endParaRPr sz="1000">
                        <a:latin typeface="Quicksand"/>
                        <a:ea typeface="Quicksand"/>
                        <a:cs typeface="Quicksand"/>
                        <a:sym typeface="Quicksand"/>
                      </a:endParaRPr>
                    </a:p>
                    <a:p>
                      <a:pPr marL="0" lvl="0" indent="0" algn="l" rtl="0">
                        <a:spcBef>
                          <a:spcPts val="0"/>
                        </a:spcBef>
                        <a:spcAft>
                          <a:spcPts val="0"/>
                        </a:spcAft>
                        <a:buNone/>
                      </a:pPr>
                      <a:endParaRPr sz="1000"/>
                    </a:p>
                  </a:txBody>
                  <a:tcPr marL="91425" marR="91425" marT="91425" marB="91425"/>
                </a:tc>
                <a:extLst>
                  <a:ext uri="{0D108BD9-81ED-4DB2-BD59-A6C34878D82A}">
                    <a16:rowId xmlns:a16="http://schemas.microsoft.com/office/drawing/2014/main" val="10000"/>
                  </a:ext>
                </a:extLst>
              </a:tr>
              <a:tr h="1883450">
                <a:tc>
                  <a:txBody>
                    <a:bodyPr/>
                    <a:lstStyle/>
                    <a:p>
                      <a:pPr marL="0" lvl="0" indent="0" algn="l" rtl="0">
                        <a:lnSpc>
                          <a:spcPct val="115000"/>
                        </a:lnSpc>
                        <a:spcBef>
                          <a:spcPts val="1200"/>
                        </a:spcBef>
                        <a:spcAft>
                          <a:spcPts val="0"/>
                        </a:spcAft>
                        <a:buClr>
                          <a:schemeClr val="dk1"/>
                        </a:buClr>
                        <a:buSzPts val="1100"/>
                        <a:buFont typeface="Arial"/>
                        <a:buNone/>
                      </a:pPr>
                      <a:r>
                        <a:rPr lang="en-GB" sz="1000">
                          <a:latin typeface="Quicksand"/>
                          <a:ea typeface="Quicksand"/>
                          <a:cs typeface="Quicksand"/>
                          <a:sym typeface="Quicksand"/>
                        </a:rPr>
                        <a:t>S.-G. Kim, J.-Y. Jung, M.K. Sim (2019)</a:t>
                      </a:r>
                      <a:endParaRPr sz="1000">
                        <a:latin typeface="Quicksand"/>
                        <a:ea typeface="Quicksand"/>
                        <a:cs typeface="Quicksand"/>
                        <a:sym typeface="Quicksand"/>
                      </a:endParaRPr>
                    </a:p>
                    <a:p>
                      <a:pPr marL="0" lvl="0" indent="0" algn="l" rtl="0">
                        <a:spcBef>
                          <a:spcPts val="1200"/>
                        </a:spcBef>
                        <a:spcAft>
                          <a:spcPts val="0"/>
                        </a:spcAft>
                        <a:buNone/>
                      </a:pPr>
                      <a:endParaRPr sz="1000"/>
                    </a:p>
                  </a:txBody>
                  <a:tcPr marL="91425" marR="91425" marT="91425" marB="91425"/>
                </a:tc>
                <a:tc>
                  <a:txBody>
                    <a:bodyPr/>
                    <a:lstStyle/>
                    <a:p>
                      <a:pPr marL="0" lvl="0" indent="0" algn="l" rtl="0">
                        <a:lnSpc>
                          <a:spcPct val="115000"/>
                        </a:lnSpc>
                        <a:spcBef>
                          <a:spcPts val="1200"/>
                        </a:spcBef>
                        <a:spcAft>
                          <a:spcPts val="0"/>
                        </a:spcAft>
                        <a:buClr>
                          <a:schemeClr val="dk1"/>
                        </a:buClr>
                        <a:buSzPts val="1100"/>
                        <a:buFont typeface="Arial"/>
                        <a:buNone/>
                      </a:pPr>
                      <a:r>
                        <a:rPr lang="en-GB" sz="1000">
                          <a:latin typeface="Quicksand"/>
                          <a:ea typeface="Quicksand"/>
                          <a:cs typeface="Quicksand"/>
                          <a:sym typeface="Quicksand"/>
                        </a:rPr>
                        <a:t>A Two-Step Approach to Solar Power Generation Prediction Based on Weather Data Using Machine Learning</a:t>
                      </a:r>
                      <a:endParaRPr sz="1000">
                        <a:latin typeface="Quicksand"/>
                        <a:ea typeface="Quicksand"/>
                        <a:cs typeface="Quicksand"/>
                        <a:sym typeface="Quicksand"/>
                      </a:endParaRPr>
                    </a:p>
                    <a:p>
                      <a:pPr marL="0" lvl="0" indent="0" algn="l" rtl="0">
                        <a:spcBef>
                          <a:spcPts val="1200"/>
                        </a:spcBef>
                        <a:spcAft>
                          <a:spcPts val="0"/>
                        </a:spcAft>
                        <a:buNone/>
                      </a:pPr>
                      <a:endParaRPr sz="1000">
                        <a:latin typeface="Quicksand"/>
                        <a:ea typeface="Quicksand"/>
                        <a:cs typeface="Quicksand"/>
                        <a:sym typeface="Quicksand"/>
                      </a:endParaRPr>
                    </a:p>
                  </a:txBody>
                  <a:tcPr marL="91425" marR="91425" marT="91425" marB="91425"/>
                </a:tc>
                <a:tc>
                  <a:txBody>
                    <a:bodyPr/>
                    <a:lstStyle/>
                    <a:p>
                      <a:pPr marL="0" lvl="0" indent="0" algn="l" rtl="0">
                        <a:lnSpc>
                          <a:spcPct val="115000"/>
                        </a:lnSpc>
                        <a:spcBef>
                          <a:spcPts val="1200"/>
                        </a:spcBef>
                        <a:spcAft>
                          <a:spcPts val="1200"/>
                        </a:spcAft>
                        <a:buNone/>
                      </a:pPr>
                      <a:r>
                        <a:rPr lang="en-GB" sz="1000">
                          <a:latin typeface="Quicksand"/>
                          <a:ea typeface="Quicksand"/>
                          <a:cs typeface="Quicksand"/>
                          <a:sym typeface="Quicksand"/>
                        </a:rPr>
                        <a:t>Proposes a two-step approach that identifies latent auxiliary variables before predicting power</a:t>
                      </a:r>
                      <a:endParaRPr sz="1000">
                        <a:latin typeface="Quicksand"/>
                        <a:ea typeface="Quicksand"/>
                        <a:cs typeface="Quicksand"/>
                        <a:sym typeface="Quicksand"/>
                      </a:endParaRPr>
                    </a:p>
                  </a:txBody>
                  <a:tcPr marL="91425" marR="91425" marT="91425" marB="91425"/>
                </a:tc>
                <a:tc>
                  <a:txBody>
                    <a:bodyPr/>
                    <a:lstStyle/>
                    <a:p>
                      <a:pPr marL="0" lvl="0" indent="0" algn="l" rtl="0">
                        <a:lnSpc>
                          <a:spcPct val="115000"/>
                        </a:lnSpc>
                        <a:spcBef>
                          <a:spcPts val="1200"/>
                        </a:spcBef>
                        <a:spcAft>
                          <a:spcPts val="1200"/>
                        </a:spcAft>
                        <a:buNone/>
                      </a:pPr>
                      <a:r>
                        <a:rPr lang="en-GB" sz="1000">
                          <a:latin typeface="Quicksand"/>
                          <a:ea typeface="Quicksand"/>
                          <a:cs typeface="Quicksand"/>
                          <a:sym typeface="Quicksand"/>
                        </a:rPr>
                        <a:t>Evaluated AdaBoost, Linear Regression, CART, SVR, ANN, k-NN, and Random Forest (RF) using a backward elimination feature selection</a:t>
                      </a:r>
                      <a:endParaRPr sz="1000">
                        <a:latin typeface="Quicksand"/>
                        <a:ea typeface="Quicksand"/>
                        <a:cs typeface="Quicksand"/>
                        <a:sym typeface="Quicksand"/>
                      </a:endParaRPr>
                    </a:p>
                  </a:txBody>
                  <a:tcPr marL="91425" marR="91425" marT="91425" marB="91425"/>
                </a:tc>
                <a:tc>
                  <a:txBody>
                    <a:bodyPr/>
                    <a:lstStyle/>
                    <a:p>
                      <a:pPr marL="0" lvl="0" indent="0" algn="l" rtl="0">
                        <a:lnSpc>
                          <a:spcPct val="115000"/>
                        </a:lnSpc>
                        <a:spcBef>
                          <a:spcPts val="1200"/>
                        </a:spcBef>
                        <a:spcAft>
                          <a:spcPts val="1200"/>
                        </a:spcAft>
                        <a:buNone/>
                      </a:pPr>
                      <a:r>
                        <a:rPr lang="en-GB" sz="1000">
                          <a:latin typeface="Quicksand"/>
                          <a:ea typeface="Quicksand"/>
                          <a:cs typeface="Quicksand"/>
                          <a:sym typeface="Quicksand"/>
                        </a:rPr>
                        <a:t>The two-step approach improved accuracy regardless of the algorithm used, with Random Forest yielding the best overall performance</a:t>
                      </a:r>
                      <a:endParaRPr sz="1000">
                        <a:latin typeface="Quicksand"/>
                        <a:ea typeface="Quicksand"/>
                        <a:cs typeface="Quicksand"/>
                        <a:sym typeface="Quicksand"/>
                      </a:endParaRPr>
                    </a:p>
                  </a:txBody>
                  <a:tcPr marL="91425" marR="91425" marT="91425" marB="91425"/>
                </a:tc>
                <a:tc>
                  <a:txBody>
                    <a:bodyPr/>
                    <a:lstStyle/>
                    <a:p>
                      <a:pPr marL="0" lvl="0" indent="0" algn="l" rtl="0">
                        <a:lnSpc>
                          <a:spcPct val="115000"/>
                        </a:lnSpc>
                        <a:spcBef>
                          <a:spcPts val="1200"/>
                        </a:spcBef>
                        <a:spcAft>
                          <a:spcPts val="1200"/>
                        </a:spcAft>
                        <a:buNone/>
                      </a:pPr>
                      <a:r>
                        <a:rPr lang="en-GB" sz="1000">
                          <a:latin typeface="Quicksand"/>
                          <a:ea typeface="Quicksand"/>
                          <a:cs typeface="Quicksand"/>
                          <a:sym typeface="Quicksand"/>
                        </a:rPr>
                        <a:t>Indirectly investigates algorithmic benefits; restricted to South Korean plant data without broader geographic testing.</a:t>
                      </a:r>
                      <a:endParaRPr sz="1000">
                        <a:latin typeface="Quicksand"/>
                        <a:ea typeface="Quicksand"/>
                        <a:cs typeface="Quicksand"/>
                        <a:sym typeface="Quicksand"/>
                      </a:endParaRPr>
                    </a:p>
                  </a:txBody>
                  <a:tcPr marL="91425" marR="91425" marT="91425" marB="91425"/>
                </a:tc>
                <a:extLst>
                  <a:ext uri="{0D108BD9-81ED-4DB2-BD59-A6C34878D82A}">
                    <a16:rowId xmlns:a16="http://schemas.microsoft.com/office/drawing/2014/main" val="10001"/>
                  </a:ext>
                </a:extLst>
              </a:tr>
              <a:tr h="1876075">
                <a:tc>
                  <a:txBody>
                    <a:bodyPr/>
                    <a:lstStyle/>
                    <a:p>
                      <a:pPr marL="0" lvl="0" indent="0" algn="l" rtl="0">
                        <a:lnSpc>
                          <a:spcPct val="115000"/>
                        </a:lnSpc>
                        <a:spcBef>
                          <a:spcPts val="1200"/>
                        </a:spcBef>
                        <a:spcAft>
                          <a:spcPts val="0"/>
                        </a:spcAft>
                        <a:buClr>
                          <a:schemeClr val="dk1"/>
                        </a:buClr>
                        <a:buSzPts val="1100"/>
                        <a:buFont typeface="Arial"/>
                        <a:buNone/>
                      </a:pPr>
                      <a:r>
                        <a:rPr lang="en-GB" sz="1000">
                          <a:latin typeface="Quicksand"/>
                          <a:ea typeface="Quicksand"/>
                          <a:cs typeface="Quicksand"/>
                          <a:sym typeface="Quicksand"/>
                        </a:rPr>
                        <a:t>T.O. Falope et al. (2024)</a:t>
                      </a:r>
                      <a:endParaRPr sz="1000">
                        <a:latin typeface="Quicksand"/>
                        <a:ea typeface="Quicksand"/>
                        <a:cs typeface="Quicksand"/>
                        <a:sym typeface="Quicksand"/>
                      </a:endParaRPr>
                    </a:p>
                    <a:p>
                      <a:pPr marL="0" lvl="0" indent="0" algn="l" rtl="0">
                        <a:spcBef>
                          <a:spcPts val="1200"/>
                        </a:spcBef>
                        <a:spcAft>
                          <a:spcPts val="0"/>
                        </a:spcAft>
                        <a:buNone/>
                      </a:pPr>
                      <a:endParaRPr sz="1000">
                        <a:latin typeface="Quicksand"/>
                        <a:ea typeface="Quicksand"/>
                        <a:cs typeface="Quicksand"/>
                        <a:sym typeface="Quicksand"/>
                      </a:endParaRPr>
                    </a:p>
                  </a:txBody>
                  <a:tcPr marL="91425" marR="91425" marT="91425" marB="91425"/>
                </a:tc>
                <a:tc>
                  <a:txBody>
                    <a:bodyPr/>
                    <a:lstStyle/>
                    <a:p>
                      <a:pPr marL="0" lvl="0" indent="0" algn="l" rtl="0">
                        <a:spcBef>
                          <a:spcPts val="0"/>
                        </a:spcBef>
                        <a:spcAft>
                          <a:spcPts val="0"/>
                        </a:spcAft>
                        <a:buNone/>
                      </a:pPr>
                      <a:r>
                        <a:rPr lang="en-GB" sz="1000">
                          <a:solidFill>
                            <a:schemeClr val="dk1"/>
                          </a:solidFill>
                          <a:latin typeface="Quicksand"/>
                          <a:ea typeface="Quicksand"/>
                          <a:cs typeface="Quicksand"/>
                          <a:sym typeface="Quicksand"/>
                        </a:rPr>
                        <a:t>A Three-Step Weather Data Approach in Solar Energy Prediction...</a:t>
                      </a:r>
                      <a:endParaRPr sz="800">
                        <a:latin typeface="Quicksand"/>
                        <a:ea typeface="Quicksand"/>
                        <a:cs typeface="Quicksand"/>
                        <a:sym typeface="Quicksand"/>
                      </a:endParaRPr>
                    </a:p>
                  </a:txBody>
                  <a:tcPr marL="91425" marR="91425" marT="91425" marB="91425"/>
                </a:tc>
                <a:tc>
                  <a:txBody>
                    <a:bodyPr/>
                    <a:lstStyle/>
                    <a:p>
                      <a:pPr marL="0" lvl="0" indent="0" algn="l" rtl="0">
                        <a:lnSpc>
                          <a:spcPct val="115000"/>
                        </a:lnSpc>
                        <a:spcBef>
                          <a:spcPts val="1200"/>
                        </a:spcBef>
                        <a:spcAft>
                          <a:spcPts val="1200"/>
                        </a:spcAft>
                        <a:buNone/>
                      </a:pPr>
                      <a:r>
                        <a:rPr lang="en-GB" sz="1000">
                          <a:latin typeface="Quicksand"/>
                          <a:ea typeface="Quicksand"/>
                          <a:cs typeface="Quicksand"/>
                          <a:sym typeface="Quicksand"/>
                        </a:rPr>
                        <a:t>Explores a unique three-step model combining multiple weather data sources using Low-Level Data Fusion (LLDF) and Pearson correlation</a:t>
                      </a:r>
                      <a:endParaRPr sz="1000">
                        <a:latin typeface="Quicksand"/>
                        <a:ea typeface="Quicksand"/>
                        <a:cs typeface="Quicksand"/>
                        <a:sym typeface="Quicksand"/>
                      </a:endParaRPr>
                    </a:p>
                  </a:txBody>
                  <a:tcPr marL="91425" marR="91425" marT="91425" marB="91425"/>
                </a:tc>
                <a:tc>
                  <a:txBody>
                    <a:bodyPr/>
                    <a:lstStyle/>
                    <a:p>
                      <a:pPr marL="0" lvl="0" indent="0" algn="l" rtl="0">
                        <a:lnSpc>
                          <a:spcPct val="115000"/>
                        </a:lnSpc>
                        <a:spcBef>
                          <a:spcPts val="1200"/>
                        </a:spcBef>
                        <a:spcAft>
                          <a:spcPts val="1200"/>
                        </a:spcAft>
                        <a:buNone/>
                      </a:pPr>
                      <a:r>
                        <a:rPr lang="en-GB" sz="1000">
                          <a:latin typeface="Quicksand"/>
                          <a:ea typeface="Quicksand"/>
                          <a:cs typeface="Quicksand"/>
                          <a:sym typeface="Quicksand"/>
                        </a:rPr>
                        <a:t>Compared Boosted Trees, SVM, GPR, and Neural Networks across scenarios integrating on-site and local weather station data</a:t>
                      </a:r>
                      <a:endParaRPr sz="1000">
                        <a:latin typeface="Quicksand"/>
                        <a:ea typeface="Quicksand"/>
                        <a:cs typeface="Quicksand"/>
                        <a:sym typeface="Quicksand"/>
                      </a:endParaRPr>
                    </a:p>
                  </a:txBody>
                  <a:tcPr marL="91425" marR="91425" marT="91425" marB="91425"/>
                </a:tc>
                <a:tc>
                  <a:txBody>
                    <a:bodyPr/>
                    <a:lstStyle/>
                    <a:p>
                      <a:pPr marL="0" lvl="0" indent="0" algn="l" rtl="0">
                        <a:lnSpc>
                          <a:spcPct val="115000"/>
                        </a:lnSpc>
                        <a:spcBef>
                          <a:spcPts val="1200"/>
                        </a:spcBef>
                        <a:spcAft>
                          <a:spcPts val="1200"/>
                        </a:spcAft>
                        <a:buNone/>
                      </a:pPr>
                      <a:r>
                        <a:rPr lang="en-GB" sz="1000">
                          <a:latin typeface="Quicksand"/>
                          <a:ea typeface="Quicksand"/>
                          <a:cs typeface="Quicksand"/>
                          <a:sym typeface="Quicksand"/>
                        </a:rPr>
                        <a:t>Fusing data from both on-site and local stations via LLDF significantly outperformed single-station models, with Boosted Trees being the most accurate</a:t>
                      </a:r>
                      <a:endParaRPr sz="1000">
                        <a:latin typeface="Quicksand"/>
                        <a:ea typeface="Quicksand"/>
                        <a:cs typeface="Quicksand"/>
                        <a:sym typeface="Quicksand"/>
                      </a:endParaRPr>
                    </a:p>
                  </a:txBody>
                  <a:tcPr marL="91425" marR="91425" marT="91425" marB="91425"/>
                </a:tc>
                <a:tc>
                  <a:txBody>
                    <a:bodyPr/>
                    <a:lstStyle/>
                    <a:p>
                      <a:pPr marL="0" lvl="0" indent="0" algn="l" rtl="0">
                        <a:lnSpc>
                          <a:spcPct val="115000"/>
                        </a:lnSpc>
                        <a:spcBef>
                          <a:spcPts val="1200"/>
                        </a:spcBef>
                        <a:spcAft>
                          <a:spcPts val="1200"/>
                        </a:spcAft>
                        <a:buNone/>
                      </a:pPr>
                      <a:r>
                        <a:rPr lang="en-GB" sz="1000">
                          <a:latin typeface="Quicksand"/>
                          <a:ea typeface="Quicksand"/>
                          <a:cs typeface="Quicksand"/>
                          <a:sym typeface="Quicksand"/>
                        </a:rPr>
                        <a:t>Requires both local and on-site stations to measure reference parameters; limited strictly to UK data and positive correlations</a:t>
                      </a:r>
                      <a:endParaRPr sz="1000">
                        <a:latin typeface="Quicksand"/>
                        <a:ea typeface="Quicksand"/>
                        <a:cs typeface="Quicksand"/>
                        <a:sym typeface="Quicksand"/>
                      </a:endParaRPr>
                    </a:p>
                  </a:txBody>
                  <a:tcPr marL="91425" marR="91425" marT="91425" marB="91425"/>
                </a:tc>
                <a:extLst>
                  <a:ext uri="{0D108BD9-81ED-4DB2-BD59-A6C34878D82A}">
                    <a16:rowId xmlns:a16="http://schemas.microsoft.com/office/drawing/2014/main" val="10002"/>
                  </a:ext>
                </a:extLst>
              </a:tr>
            </a:tbl>
          </a:graphicData>
        </a:graphic>
      </p:graphicFrame>
      <p:sp>
        <p:nvSpPr>
          <p:cNvPr id="144" name="Google Shape;144;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23"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sp>
        <p:nvSpPr>
          <p:cNvPr id="150" name="Google Shape;150;p23"/>
          <p:cNvSpPr txBox="1">
            <a:spLocks noGrp="1"/>
          </p:cNvSpPr>
          <p:nvPr>
            <p:ph type="title"/>
          </p:nvPr>
        </p:nvSpPr>
        <p:spPr>
          <a:xfrm>
            <a:off x="375225" y="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3040" b="1">
                <a:latin typeface="Quicksand"/>
                <a:ea typeface="Quicksand"/>
                <a:cs typeface="Quicksand"/>
                <a:sym typeface="Quicksand"/>
              </a:rPr>
              <a:t>Literature Review</a:t>
            </a:r>
            <a:endParaRPr sz="2320">
              <a:latin typeface="Quicksand"/>
              <a:ea typeface="Quicksand"/>
              <a:cs typeface="Quicksand"/>
              <a:sym typeface="Quicksand"/>
            </a:endParaRPr>
          </a:p>
        </p:txBody>
      </p:sp>
      <p:graphicFrame>
        <p:nvGraphicFramePr>
          <p:cNvPr id="151" name="Google Shape;151;p23"/>
          <p:cNvGraphicFramePr/>
          <p:nvPr/>
        </p:nvGraphicFramePr>
        <p:xfrm>
          <a:off x="405150" y="725400"/>
          <a:ext cx="3000000" cy="3000000"/>
        </p:xfrm>
        <a:graphic>
          <a:graphicData uri="http://schemas.openxmlformats.org/drawingml/2006/table">
            <a:tbl>
              <a:tblPr>
                <a:noFill/>
                <a:tableStyleId>{01655F76-E95F-4D1A-90EE-E8038F89BB30}</a:tableStyleId>
              </a:tblPr>
              <a:tblGrid>
                <a:gridCol w="1420100">
                  <a:extLst>
                    <a:ext uri="{9D8B030D-6E8A-4147-A177-3AD203B41FA5}">
                      <a16:colId xmlns:a16="http://schemas.microsoft.com/office/drawing/2014/main" val="20000"/>
                    </a:ext>
                  </a:extLst>
                </a:gridCol>
                <a:gridCol w="1420100">
                  <a:extLst>
                    <a:ext uri="{9D8B030D-6E8A-4147-A177-3AD203B41FA5}">
                      <a16:colId xmlns:a16="http://schemas.microsoft.com/office/drawing/2014/main" val="20001"/>
                    </a:ext>
                  </a:extLst>
                </a:gridCol>
                <a:gridCol w="1420100">
                  <a:extLst>
                    <a:ext uri="{9D8B030D-6E8A-4147-A177-3AD203B41FA5}">
                      <a16:colId xmlns:a16="http://schemas.microsoft.com/office/drawing/2014/main" val="20002"/>
                    </a:ext>
                  </a:extLst>
                </a:gridCol>
                <a:gridCol w="1420100">
                  <a:extLst>
                    <a:ext uri="{9D8B030D-6E8A-4147-A177-3AD203B41FA5}">
                      <a16:colId xmlns:a16="http://schemas.microsoft.com/office/drawing/2014/main" val="20003"/>
                    </a:ext>
                  </a:extLst>
                </a:gridCol>
                <a:gridCol w="1420100">
                  <a:extLst>
                    <a:ext uri="{9D8B030D-6E8A-4147-A177-3AD203B41FA5}">
                      <a16:colId xmlns:a16="http://schemas.microsoft.com/office/drawing/2014/main" val="20004"/>
                    </a:ext>
                  </a:extLst>
                </a:gridCol>
                <a:gridCol w="1420100">
                  <a:extLst>
                    <a:ext uri="{9D8B030D-6E8A-4147-A177-3AD203B41FA5}">
                      <a16:colId xmlns:a16="http://schemas.microsoft.com/office/drawing/2014/main" val="20005"/>
                    </a:ext>
                  </a:extLst>
                </a:gridCol>
              </a:tblGrid>
              <a:tr h="1879975">
                <a:tc>
                  <a:txBody>
                    <a:bodyPr/>
                    <a:lstStyle/>
                    <a:p>
                      <a:pPr marL="0" lvl="0" indent="0" algn="l" rtl="0">
                        <a:lnSpc>
                          <a:spcPct val="115000"/>
                        </a:lnSpc>
                        <a:spcBef>
                          <a:spcPts val="1200"/>
                        </a:spcBef>
                        <a:spcAft>
                          <a:spcPts val="0"/>
                        </a:spcAft>
                        <a:buClr>
                          <a:schemeClr val="dk1"/>
                        </a:buClr>
                        <a:buSzPts val="1100"/>
                        <a:buFont typeface="Arial"/>
                        <a:buNone/>
                      </a:pPr>
                      <a:r>
                        <a:rPr lang="en-GB" sz="1000">
                          <a:latin typeface="Quicksand"/>
                          <a:ea typeface="Quicksand"/>
                          <a:cs typeface="Quicksand"/>
                          <a:sym typeface="Quicksand"/>
                        </a:rPr>
                        <a:t>M. Abdel-Nasser, K. Mahmoud (2017)</a:t>
                      </a:r>
                      <a:endParaRPr sz="1000">
                        <a:latin typeface="Quicksand"/>
                        <a:ea typeface="Quicksand"/>
                        <a:cs typeface="Quicksand"/>
                        <a:sym typeface="Quicksand"/>
                      </a:endParaRPr>
                    </a:p>
                    <a:p>
                      <a:pPr marL="0" lvl="0" indent="0" algn="l" rtl="0">
                        <a:spcBef>
                          <a:spcPts val="1200"/>
                        </a:spcBef>
                        <a:spcAft>
                          <a:spcPts val="0"/>
                        </a:spcAft>
                        <a:buNone/>
                      </a:pPr>
                      <a:endParaRPr sz="1100">
                        <a:latin typeface="Quicksand"/>
                        <a:ea typeface="Quicksand"/>
                        <a:cs typeface="Quicksand"/>
                        <a:sym typeface="Quicksand"/>
                      </a:endParaRPr>
                    </a:p>
                  </a:txBody>
                  <a:tcPr marL="91425" marR="91425" marT="91425" marB="91425"/>
                </a:tc>
                <a:tc>
                  <a:txBody>
                    <a:bodyPr/>
                    <a:lstStyle/>
                    <a:p>
                      <a:pPr marL="0" lvl="0" indent="0" algn="l" rtl="0">
                        <a:lnSpc>
                          <a:spcPct val="115000"/>
                        </a:lnSpc>
                        <a:spcBef>
                          <a:spcPts val="1200"/>
                        </a:spcBef>
                        <a:spcAft>
                          <a:spcPts val="0"/>
                        </a:spcAft>
                        <a:buClr>
                          <a:schemeClr val="dk1"/>
                        </a:buClr>
                        <a:buSzPts val="1100"/>
                        <a:buFont typeface="Arial"/>
                        <a:buNone/>
                      </a:pPr>
                      <a:r>
                        <a:rPr lang="en-GB" sz="1000">
                          <a:latin typeface="Quicksand"/>
                          <a:ea typeface="Quicksand"/>
                          <a:cs typeface="Quicksand"/>
                          <a:sym typeface="Quicksand"/>
                        </a:rPr>
                        <a:t>Accurate photovoltaic power forecasting models using deep LSTM-RNN</a:t>
                      </a:r>
                      <a:endParaRPr sz="1000">
                        <a:latin typeface="Quicksand"/>
                        <a:ea typeface="Quicksand"/>
                        <a:cs typeface="Quicksand"/>
                        <a:sym typeface="Quicksand"/>
                      </a:endParaRPr>
                    </a:p>
                    <a:p>
                      <a:pPr marL="0" lvl="0" indent="0" algn="l" rtl="0">
                        <a:spcBef>
                          <a:spcPts val="1200"/>
                        </a:spcBef>
                        <a:spcAft>
                          <a:spcPts val="0"/>
                        </a:spcAft>
                        <a:buNone/>
                      </a:pPr>
                      <a:endParaRPr sz="1100">
                        <a:latin typeface="Quicksand"/>
                        <a:ea typeface="Quicksand"/>
                        <a:cs typeface="Quicksand"/>
                        <a:sym typeface="Quicksand"/>
                      </a:endParaRPr>
                    </a:p>
                  </a:txBody>
                  <a:tcPr marL="91425" marR="91425" marT="91425" marB="91425"/>
                </a:tc>
                <a:tc>
                  <a:txBody>
                    <a:bodyPr/>
                    <a:lstStyle/>
                    <a:p>
                      <a:pPr marL="0" lvl="0" indent="0" algn="l" rtl="0">
                        <a:lnSpc>
                          <a:spcPct val="115000"/>
                        </a:lnSpc>
                        <a:spcBef>
                          <a:spcPts val="1200"/>
                        </a:spcBef>
                        <a:spcAft>
                          <a:spcPts val="0"/>
                        </a:spcAft>
                        <a:buClr>
                          <a:schemeClr val="dk1"/>
                        </a:buClr>
                        <a:buSzPts val="1100"/>
                        <a:buFont typeface="Arial"/>
                        <a:buNone/>
                      </a:pPr>
                      <a:r>
                        <a:rPr lang="en-GB" sz="1000">
                          <a:latin typeface="Quicksand"/>
                          <a:ea typeface="Quicksand"/>
                          <a:cs typeface="Quicksand"/>
                          <a:sym typeface="Quicksand"/>
                        </a:rPr>
                        <a:t>Utilizes Long Short-Term Memory (LSTM) deep recurrent networks to handle temporal changes in PV power</a:t>
                      </a:r>
                      <a:endParaRPr sz="1000">
                        <a:latin typeface="Quicksand"/>
                        <a:ea typeface="Quicksand"/>
                        <a:cs typeface="Quicksand"/>
                        <a:sym typeface="Quicksand"/>
                      </a:endParaRPr>
                    </a:p>
                    <a:p>
                      <a:pPr marL="0" lvl="0" indent="0" algn="l" rtl="0">
                        <a:spcBef>
                          <a:spcPts val="1200"/>
                        </a:spcBef>
                        <a:spcAft>
                          <a:spcPts val="0"/>
                        </a:spcAft>
                        <a:buNone/>
                      </a:pPr>
                      <a:endParaRPr sz="1000">
                        <a:latin typeface="Quicksand"/>
                        <a:ea typeface="Quicksand"/>
                        <a:cs typeface="Quicksand"/>
                        <a:sym typeface="Quicksand"/>
                      </a:endParaRPr>
                    </a:p>
                  </a:txBody>
                  <a:tcPr marL="91425" marR="91425" marT="91425" marB="91425"/>
                </a:tc>
                <a:tc>
                  <a:txBody>
                    <a:bodyPr/>
                    <a:lstStyle/>
                    <a:p>
                      <a:pPr marL="0" lvl="0" indent="0" algn="l" rtl="0">
                        <a:lnSpc>
                          <a:spcPct val="115000"/>
                        </a:lnSpc>
                        <a:spcBef>
                          <a:spcPts val="1200"/>
                        </a:spcBef>
                        <a:spcAft>
                          <a:spcPts val="1200"/>
                        </a:spcAft>
                        <a:buNone/>
                      </a:pPr>
                      <a:r>
                        <a:rPr lang="en-GB" sz="1000">
                          <a:latin typeface="Quicksand"/>
                          <a:ea typeface="Quicksand"/>
                          <a:cs typeface="Quicksand"/>
                          <a:sym typeface="Quicksand"/>
                        </a:rPr>
                        <a:t>Compared 5 different LSTM architectures against Multiple Linear Regression (MLR), Bagged Regression Trees (BRT), and standard Neural Networks.</a:t>
                      </a:r>
                      <a:endParaRPr sz="1000">
                        <a:latin typeface="Quicksand"/>
                        <a:ea typeface="Quicksand"/>
                        <a:cs typeface="Quicksand"/>
                        <a:sym typeface="Quicksand"/>
                      </a:endParaRPr>
                    </a:p>
                  </a:txBody>
                  <a:tcPr marL="91425" marR="91425" marT="91425" marB="91425"/>
                </a:tc>
                <a:tc>
                  <a:txBody>
                    <a:bodyPr/>
                    <a:lstStyle/>
                    <a:p>
                      <a:pPr marL="0" lvl="0" indent="0" algn="l" rtl="0">
                        <a:lnSpc>
                          <a:spcPct val="115000"/>
                        </a:lnSpc>
                        <a:spcBef>
                          <a:spcPts val="1200"/>
                        </a:spcBef>
                        <a:spcAft>
                          <a:spcPts val="1200"/>
                        </a:spcAft>
                        <a:buNone/>
                      </a:pPr>
                      <a:r>
                        <a:rPr lang="en-GB" sz="1000">
                          <a:latin typeface="Quicksand"/>
                          <a:ea typeface="Quicksand"/>
                          <a:cs typeface="Quicksand"/>
                          <a:sym typeface="Quicksand"/>
                        </a:rPr>
                        <a:t>The proposed LSTM method accurately predicted PV power and heavily outperformed MLR, BRT, and traditional NN models.</a:t>
                      </a:r>
                      <a:endParaRPr sz="1000">
                        <a:latin typeface="Quicksand"/>
                        <a:ea typeface="Quicksand"/>
                        <a:cs typeface="Quicksand"/>
                        <a:sym typeface="Quicksand"/>
                      </a:endParaRPr>
                    </a:p>
                  </a:txBody>
                  <a:tcPr marL="91425" marR="91425" marT="91425" marB="91425"/>
                </a:tc>
                <a:tc>
                  <a:txBody>
                    <a:bodyPr/>
                    <a:lstStyle/>
                    <a:p>
                      <a:pPr marL="0" lvl="0" indent="0" algn="l" rtl="0">
                        <a:lnSpc>
                          <a:spcPct val="115000"/>
                        </a:lnSpc>
                        <a:spcBef>
                          <a:spcPts val="1200"/>
                        </a:spcBef>
                        <a:spcAft>
                          <a:spcPts val="0"/>
                        </a:spcAft>
                        <a:buClr>
                          <a:schemeClr val="dk1"/>
                        </a:buClr>
                        <a:buSzPts val="1100"/>
                        <a:buFont typeface="Arial"/>
                        <a:buNone/>
                      </a:pPr>
                      <a:r>
                        <a:rPr lang="en-GB" sz="1000">
                          <a:latin typeface="Quicksand"/>
                          <a:ea typeface="Quicksand"/>
                          <a:cs typeface="Quicksand"/>
                          <a:sym typeface="Quicksand"/>
                        </a:rPr>
                        <a:t>Did not study the effect of data outliers and excluded key environmental parameters like temperature.</a:t>
                      </a:r>
                      <a:endParaRPr sz="1000">
                        <a:latin typeface="Quicksand"/>
                        <a:ea typeface="Quicksand"/>
                        <a:cs typeface="Quicksand"/>
                        <a:sym typeface="Quicksand"/>
                      </a:endParaRPr>
                    </a:p>
                    <a:p>
                      <a:pPr marL="0" lvl="0" indent="0" algn="l" rtl="0">
                        <a:spcBef>
                          <a:spcPts val="1200"/>
                        </a:spcBef>
                        <a:spcAft>
                          <a:spcPts val="0"/>
                        </a:spcAft>
                        <a:buNone/>
                      </a:pPr>
                      <a:endParaRPr sz="1000">
                        <a:latin typeface="Quicksand"/>
                        <a:ea typeface="Quicksand"/>
                        <a:cs typeface="Quicksand"/>
                        <a:sym typeface="Quicksand"/>
                      </a:endParaRPr>
                    </a:p>
                  </a:txBody>
                  <a:tcPr marL="91425" marR="91425" marT="91425" marB="91425"/>
                </a:tc>
                <a:extLst>
                  <a:ext uri="{0D108BD9-81ED-4DB2-BD59-A6C34878D82A}">
                    <a16:rowId xmlns:a16="http://schemas.microsoft.com/office/drawing/2014/main" val="10000"/>
                  </a:ext>
                </a:extLst>
              </a:tr>
              <a:tr h="1879975">
                <a:tc>
                  <a:txBody>
                    <a:bodyPr/>
                    <a:lstStyle/>
                    <a:p>
                      <a:pPr marL="0" lvl="0" indent="0" algn="l" rtl="0">
                        <a:lnSpc>
                          <a:spcPct val="115000"/>
                        </a:lnSpc>
                        <a:spcBef>
                          <a:spcPts val="1200"/>
                        </a:spcBef>
                        <a:spcAft>
                          <a:spcPts val="0"/>
                        </a:spcAft>
                        <a:buClr>
                          <a:schemeClr val="dk1"/>
                        </a:buClr>
                        <a:buSzPts val="1100"/>
                        <a:buFont typeface="Arial"/>
                        <a:buNone/>
                      </a:pPr>
                      <a:r>
                        <a:rPr lang="en-GB" sz="1000">
                          <a:latin typeface="Quicksand"/>
                          <a:ea typeface="Quicksand"/>
                          <a:cs typeface="Quicksand"/>
                          <a:sym typeface="Quicksand"/>
                        </a:rPr>
                        <a:t>S. Leva, A. Dolara, F. Grimaccia, M. Mussetta, E. Ogliari (2015)</a:t>
                      </a:r>
                      <a:endParaRPr sz="1000">
                        <a:latin typeface="Quicksand"/>
                        <a:ea typeface="Quicksand"/>
                        <a:cs typeface="Quicksand"/>
                        <a:sym typeface="Quicksand"/>
                      </a:endParaRPr>
                    </a:p>
                    <a:p>
                      <a:pPr marL="0" lvl="0" indent="0" algn="l" rtl="0">
                        <a:spcBef>
                          <a:spcPts val="1200"/>
                        </a:spcBef>
                        <a:spcAft>
                          <a:spcPts val="0"/>
                        </a:spcAft>
                        <a:buNone/>
                      </a:pPr>
                      <a:endParaRPr sz="1000">
                        <a:latin typeface="Quicksand"/>
                        <a:ea typeface="Quicksand"/>
                        <a:cs typeface="Quicksand"/>
                        <a:sym typeface="Quicksand"/>
                      </a:endParaRPr>
                    </a:p>
                  </a:txBody>
                  <a:tcPr marL="91425" marR="91425" marT="91425" marB="91425"/>
                </a:tc>
                <a:tc>
                  <a:txBody>
                    <a:bodyPr/>
                    <a:lstStyle/>
                    <a:p>
                      <a:pPr marL="0" lvl="0" indent="0" algn="l" rtl="0">
                        <a:lnSpc>
                          <a:spcPct val="115000"/>
                        </a:lnSpc>
                        <a:spcBef>
                          <a:spcPts val="1200"/>
                        </a:spcBef>
                        <a:spcAft>
                          <a:spcPts val="0"/>
                        </a:spcAft>
                        <a:buNone/>
                      </a:pPr>
                      <a:r>
                        <a:rPr lang="en-GB" sz="1000">
                          <a:latin typeface="Quicksand"/>
                          <a:ea typeface="Quicksand"/>
                          <a:cs typeface="Quicksand"/>
                          <a:sym typeface="Quicksand"/>
                        </a:rPr>
                        <a:t>Analysis and validation of 24 hours ahead neural network forecasting of photovoltaic output power</a:t>
                      </a:r>
                      <a:endParaRPr sz="1000">
                        <a:latin typeface="Quicksand"/>
                        <a:ea typeface="Quicksand"/>
                        <a:cs typeface="Quicksand"/>
                        <a:sym typeface="Quicksand"/>
                      </a:endParaRPr>
                    </a:p>
                    <a:p>
                      <a:pPr marL="0" lvl="0" indent="0" algn="l" rtl="0">
                        <a:spcBef>
                          <a:spcPts val="1200"/>
                        </a:spcBef>
                        <a:spcAft>
                          <a:spcPts val="0"/>
                        </a:spcAft>
                        <a:buNone/>
                      </a:pPr>
                      <a:endParaRPr sz="1000">
                        <a:latin typeface="Quicksand"/>
                        <a:ea typeface="Quicksand"/>
                        <a:cs typeface="Quicksand"/>
                        <a:sym typeface="Quicksand"/>
                      </a:endParaRPr>
                    </a:p>
                  </a:txBody>
                  <a:tcPr marL="91425" marR="91425" marT="91425" marB="91425"/>
                </a:tc>
                <a:tc>
                  <a:txBody>
                    <a:bodyPr/>
                    <a:lstStyle/>
                    <a:p>
                      <a:pPr marL="0" lvl="0" indent="0" algn="l" rtl="0">
                        <a:lnSpc>
                          <a:spcPct val="115000"/>
                        </a:lnSpc>
                        <a:spcBef>
                          <a:spcPts val="1200"/>
                        </a:spcBef>
                        <a:spcAft>
                          <a:spcPts val="1200"/>
                        </a:spcAft>
                        <a:buNone/>
                      </a:pPr>
                      <a:r>
                        <a:rPr lang="en-GB" sz="1000">
                          <a:latin typeface="Quicksand"/>
                          <a:ea typeface="Quicksand"/>
                          <a:cs typeface="Quicksand"/>
                          <a:sym typeface="Quicksand"/>
                        </a:rPr>
                        <a:t>Presents an Artificial Neural Network (ANN) model specifically tuned for 24-hour ahead PV power forecasting coupled with a clear sky model.</a:t>
                      </a:r>
                      <a:endParaRPr sz="1000">
                        <a:latin typeface="Quicksand"/>
                        <a:ea typeface="Quicksand"/>
                        <a:cs typeface="Quicksand"/>
                        <a:sym typeface="Quicksand"/>
                      </a:endParaRPr>
                    </a:p>
                  </a:txBody>
                  <a:tcPr marL="91425" marR="91425" marT="91425" marB="91425"/>
                </a:tc>
                <a:tc>
                  <a:txBody>
                    <a:bodyPr/>
                    <a:lstStyle/>
                    <a:p>
                      <a:pPr marL="0" lvl="0" indent="0" algn="l" rtl="0">
                        <a:lnSpc>
                          <a:spcPct val="115000"/>
                        </a:lnSpc>
                        <a:spcBef>
                          <a:spcPts val="1200"/>
                        </a:spcBef>
                        <a:spcAft>
                          <a:spcPts val="1200"/>
                        </a:spcAft>
                        <a:buNone/>
                      </a:pPr>
                      <a:r>
                        <a:rPr lang="en-GB" sz="1000">
                          <a:latin typeface="Quicksand"/>
                          <a:ea typeface="Quicksand"/>
                          <a:cs typeface="Quicksand"/>
                          <a:sym typeface="Quicksand"/>
                        </a:rPr>
                        <a:t>Applied an ANN (trained on 240 days of data) and evaluated point-wise relative errors against measured power output.</a:t>
                      </a:r>
                      <a:endParaRPr sz="1000">
                        <a:latin typeface="Quicksand"/>
                        <a:ea typeface="Quicksand"/>
                        <a:cs typeface="Quicksand"/>
                        <a:sym typeface="Quicksand"/>
                      </a:endParaRPr>
                    </a:p>
                  </a:txBody>
                  <a:tcPr marL="91425" marR="91425" marT="91425" marB="91425"/>
                </a:tc>
                <a:tc>
                  <a:txBody>
                    <a:bodyPr/>
                    <a:lstStyle/>
                    <a:p>
                      <a:pPr marL="0" lvl="0" indent="0" algn="l" rtl="0">
                        <a:lnSpc>
                          <a:spcPct val="115000"/>
                        </a:lnSpc>
                        <a:spcBef>
                          <a:spcPts val="1200"/>
                        </a:spcBef>
                        <a:spcAft>
                          <a:spcPts val="1200"/>
                        </a:spcAft>
                        <a:buNone/>
                      </a:pPr>
                      <a:r>
                        <a:rPr lang="en-GB" sz="1000">
                          <a:latin typeface="Quicksand"/>
                          <a:ea typeface="Quicksand"/>
                          <a:cs typeface="Quicksand"/>
                          <a:sym typeface="Quicksand"/>
                        </a:rPr>
                        <a:t>The hourly ensemble error based on the predicted power was consistently smaller than individual trial errors, validating it for day-ahead forecasting.</a:t>
                      </a:r>
                      <a:endParaRPr sz="1000">
                        <a:latin typeface="Quicksand"/>
                        <a:ea typeface="Quicksand"/>
                        <a:cs typeface="Quicksand"/>
                        <a:sym typeface="Quicksand"/>
                      </a:endParaRPr>
                    </a:p>
                  </a:txBody>
                  <a:tcPr marL="91425" marR="91425" marT="91425" marB="91425"/>
                </a:tc>
                <a:tc>
                  <a:txBody>
                    <a:bodyPr/>
                    <a:lstStyle/>
                    <a:p>
                      <a:pPr marL="0" lvl="0" indent="0" algn="l" rtl="0">
                        <a:lnSpc>
                          <a:spcPct val="115000"/>
                        </a:lnSpc>
                        <a:spcBef>
                          <a:spcPts val="1200"/>
                        </a:spcBef>
                        <a:spcAft>
                          <a:spcPts val="1200"/>
                        </a:spcAft>
                        <a:buNone/>
                      </a:pPr>
                      <a:r>
                        <a:rPr lang="en-GB" sz="1000">
                          <a:latin typeface="Quicksand"/>
                          <a:ea typeface="Quicksand"/>
                          <a:cs typeface="Quicksand"/>
                          <a:sym typeface="Quicksand"/>
                        </a:rPr>
                        <a:t>Generates particularly high prediction errors on fully cloudy days, making variable conditions a weakness.</a:t>
                      </a:r>
                      <a:endParaRPr sz="1000">
                        <a:latin typeface="Quicksand"/>
                        <a:ea typeface="Quicksand"/>
                        <a:cs typeface="Quicksand"/>
                        <a:sym typeface="Quicksand"/>
                      </a:endParaRPr>
                    </a:p>
                  </a:txBody>
                  <a:tcPr marL="91425" marR="91425" marT="91425" marB="91425"/>
                </a:tc>
                <a:extLst>
                  <a:ext uri="{0D108BD9-81ED-4DB2-BD59-A6C34878D82A}">
                    <a16:rowId xmlns:a16="http://schemas.microsoft.com/office/drawing/2014/main" val="10001"/>
                  </a:ext>
                </a:extLst>
              </a:tr>
            </a:tbl>
          </a:graphicData>
        </a:graphic>
      </p:graphicFrame>
      <p:sp>
        <p:nvSpPr>
          <p:cNvPr id="152" name="Google Shape;152;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pic>
        <p:nvPicPr>
          <p:cNvPr id="157" name="Google Shape;157;p24"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pic>
        <p:nvPicPr>
          <p:cNvPr id="158" name="Google Shape;158;p24" title="1000_F_390568542_cx3RpHhwjIAzPOuelrqVI7XZF9MvtmbM.jpg"/>
          <p:cNvPicPr preferRelativeResize="0"/>
          <p:nvPr/>
        </p:nvPicPr>
        <p:blipFill>
          <a:blip r:embed="rId4">
            <a:alphaModFix amt="6000"/>
          </a:blip>
          <a:stretch>
            <a:fillRect/>
          </a:stretch>
        </p:blipFill>
        <p:spPr>
          <a:xfrm>
            <a:off x="0" y="0"/>
            <a:ext cx="9144000" cy="5143500"/>
          </a:xfrm>
          <a:prstGeom prst="rect">
            <a:avLst/>
          </a:prstGeom>
          <a:noFill/>
          <a:ln>
            <a:noFill/>
          </a:ln>
        </p:spPr>
      </p:pic>
      <p:sp>
        <p:nvSpPr>
          <p:cNvPr id="159" name="Google Shape;159;p24"/>
          <p:cNvSpPr txBox="1"/>
          <p:nvPr/>
        </p:nvSpPr>
        <p:spPr>
          <a:xfrm>
            <a:off x="0" y="186900"/>
            <a:ext cx="9144000" cy="740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2600" b="1">
                <a:solidFill>
                  <a:schemeClr val="dk1"/>
                </a:solidFill>
                <a:latin typeface="Quicksand"/>
                <a:ea typeface="Quicksand"/>
                <a:cs typeface="Quicksand"/>
                <a:sym typeface="Quicksand"/>
              </a:rPr>
              <a:t>Project Stakeholders</a:t>
            </a:r>
            <a:endParaRPr sz="2600" b="1">
              <a:solidFill>
                <a:schemeClr val="dk1"/>
              </a:solidFill>
              <a:latin typeface="Quicksand"/>
              <a:ea typeface="Quicksand"/>
              <a:cs typeface="Quicksand"/>
              <a:sym typeface="Quicksand"/>
            </a:endParaRPr>
          </a:p>
        </p:txBody>
      </p:sp>
      <p:sp>
        <p:nvSpPr>
          <p:cNvPr id="160" name="Google Shape;160;p24"/>
          <p:cNvSpPr txBox="1"/>
          <p:nvPr/>
        </p:nvSpPr>
        <p:spPr>
          <a:xfrm>
            <a:off x="239050" y="991300"/>
            <a:ext cx="8817300" cy="3477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GB" b="1">
                <a:solidFill>
                  <a:schemeClr val="dk1"/>
                </a:solidFill>
                <a:latin typeface="Quicksand"/>
                <a:ea typeface="Quicksand"/>
                <a:cs typeface="Quicksand"/>
                <a:sym typeface="Quicksand"/>
              </a:rPr>
              <a:t>1. Primary Stakeholders (Direct Users)</a:t>
            </a:r>
            <a:endParaRPr b="1">
              <a:solidFill>
                <a:schemeClr val="dk1"/>
              </a:solidFill>
              <a:latin typeface="Quicksand"/>
              <a:ea typeface="Quicksand"/>
              <a:cs typeface="Quicksand"/>
              <a:sym typeface="Quicksand"/>
            </a:endParaRPr>
          </a:p>
          <a:p>
            <a:pPr marL="457200" lvl="0" indent="-317500" algn="l" rtl="0">
              <a:lnSpc>
                <a:spcPct val="115000"/>
              </a:lnSpc>
              <a:spcBef>
                <a:spcPts val="1200"/>
              </a:spcBef>
              <a:spcAft>
                <a:spcPts val="0"/>
              </a:spcAft>
              <a:buClr>
                <a:schemeClr val="dk1"/>
              </a:buClr>
              <a:buSzPts val="1400"/>
              <a:buChar char="●"/>
            </a:pPr>
            <a:r>
              <a:rPr lang="en-GB" b="1">
                <a:solidFill>
                  <a:schemeClr val="dk1"/>
                </a:solidFill>
                <a:latin typeface="Quicksand"/>
                <a:ea typeface="Quicksand"/>
                <a:cs typeface="Quicksand"/>
                <a:sym typeface="Quicksand"/>
              </a:rPr>
              <a:t>Residential Solar Home System (SHS) Users:</a:t>
            </a:r>
            <a:r>
              <a:rPr lang="en-GB">
                <a:solidFill>
                  <a:schemeClr val="dk1"/>
                </a:solidFill>
                <a:latin typeface="Quicksand"/>
                <a:ea typeface="Quicksand"/>
                <a:cs typeface="Quicksand"/>
                <a:sym typeface="Quicksand"/>
              </a:rPr>
              <a:t> Homeowners in rural areas and urban who need to know exactly how many hours of battery backup they have during load-shedding.</a:t>
            </a:r>
            <a:endParaRPr>
              <a:solidFill>
                <a:schemeClr val="dk1"/>
              </a:solidFill>
              <a:latin typeface="Quicksand"/>
              <a:ea typeface="Quicksand"/>
              <a:cs typeface="Quicksand"/>
              <a:sym typeface="Quicksand"/>
            </a:endParaRPr>
          </a:p>
          <a:p>
            <a:pPr marL="457200" lvl="0" indent="-317500" algn="l" rtl="0">
              <a:lnSpc>
                <a:spcPct val="115000"/>
              </a:lnSpc>
              <a:spcBef>
                <a:spcPts val="0"/>
              </a:spcBef>
              <a:spcAft>
                <a:spcPts val="0"/>
              </a:spcAft>
              <a:buClr>
                <a:schemeClr val="dk1"/>
              </a:buClr>
              <a:buSzPts val="1400"/>
              <a:buChar char="●"/>
            </a:pPr>
            <a:r>
              <a:rPr lang="en-GB" b="1">
                <a:solidFill>
                  <a:schemeClr val="dk1"/>
                </a:solidFill>
                <a:latin typeface="Quicksand"/>
                <a:ea typeface="Quicksand"/>
                <a:cs typeface="Quicksand"/>
                <a:sym typeface="Quicksand"/>
              </a:rPr>
              <a:t>Industrial &amp; Commercial Entities:</a:t>
            </a:r>
            <a:r>
              <a:rPr lang="en-GB">
                <a:solidFill>
                  <a:schemeClr val="dk1"/>
                </a:solidFill>
                <a:latin typeface="Quicksand"/>
                <a:ea typeface="Quicksand"/>
                <a:cs typeface="Quicksand"/>
                <a:sym typeface="Quicksand"/>
              </a:rPr>
              <a:t> Small to medium enterprises (SMEs) that rely on rooftop solar to maintain productivity during grid failures.</a:t>
            </a:r>
            <a:endParaRPr>
              <a:solidFill>
                <a:schemeClr val="dk1"/>
              </a:solidFill>
              <a:latin typeface="Quicksand"/>
              <a:ea typeface="Quicksand"/>
              <a:cs typeface="Quicksand"/>
              <a:sym typeface="Quicksand"/>
            </a:endParaRPr>
          </a:p>
          <a:p>
            <a:pPr marL="0" lvl="0" indent="0" algn="l" rtl="0">
              <a:lnSpc>
                <a:spcPct val="115000"/>
              </a:lnSpc>
              <a:spcBef>
                <a:spcPts val="1400"/>
              </a:spcBef>
              <a:spcAft>
                <a:spcPts val="0"/>
              </a:spcAft>
              <a:buClr>
                <a:schemeClr val="dk1"/>
              </a:buClr>
              <a:buSzPts val="1100"/>
              <a:buFont typeface="Arial"/>
              <a:buNone/>
            </a:pPr>
            <a:r>
              <a:rPr lang="en-GB" b="1">
                <a:solidFill>
                  <a:schemeClr val="dk1"/>
                </a:solidFill>
                <a:latin typeface="Quicksand"/>
                <a:ea typeface="Quicksand"/>
                <a:cs typeface="Quicksand"/>
                <a:sym typeface="Quicksand"/>
              </a:rPr>
              <a:t>2. Institutional &amp; Academic Stakeholders</a:t>
            </a:r>
            <a:endParaRPr b="1">
              <a:solidFill>
                <a:schemeClr val="dk1"/>
              </a:solidFill>
              <a:latin typeface="Quicksand"/>
              <a:ea typeface="Quicksand"/>
              <a:cs typeface="Quicksand"/>
              <a:sym typeface="Quicksand"/>
            </a:endParaRPr>
          </a:p>
          <a:p>
            <a:pPr marL="457200" lvl="0" indent="-317500" algn="l" rtl="0">
              <a:lnSpc>
                <a:spcPct val="115000"/>
              </a:lnSpc>
              <a:spcBef>
                <a:spcPts val="1200"/>
              </a:spcBef>
              <a:spcAft>
                <a:spcPts val="0"/>
              </a:spcAft>
              <a:buClr>
                <a:schemeClr val="dk1"/>
              </a:buClr>
              <a:buSzPts val="1400"/>
              <a:buChar char="●"/>
            </a:pPr>
            <a:r>
              <a:rPr lang="en-GB" b="1">
                <a:solidFill>
                  <a:schemeClr val="dk1"/>
                </a:solidFill>
                <a:latin typeface="Quicksand"/>
                <a:ea typeface="Quicksand"/>
                <a:cs typeface="Quicksand"/>
                <a:sym typeface="Quicksand"/>
              </a:rPr>
              <a:t>East West University (EWU):</a:t>
            </a:r>
            <a:r>
              <a:rPr lang="en-GB">
                <a:solidFill>
                  <a:schemeClr val="dk1"/>
                </a:solidFill>
                <a:latin typeface="Quicksand"/>
                <a:ea typeface="Quicksand"/>
                <a:cs typeface="Quicksand"/>
                <a:sym typeface="Quicksand"/>
              </a:rPr>
              <a:t> As the primary data provider, the university benefits from the research findings to optimize their own on-campus solar energy management.</a:t>
            </a:r>
            <a:endParaRPr>
              <a:solidFill>
                <a:schemeClr val="dk1"/>
              </a:solidFill>
              <a:latin typeface="Quicksand"/>
              <a:ea typeface="Quicksand"/>
              <a:cs typeface="Quicksand"/>
              <a:sym typeface="Quicksand"/>
            </a:endParaRPr>
          </a:p>
          <a:p>
            <a:pPr marL="457200" lvl="0" indent="-317500" algn="l" rtl="0">
              <a:lnSpc>
                <a:spcPct val="115000"/>
              </a:lnSpc>
              <a:spcBef>
                <a:spcPts val="0"/>
              </a:spcBef>
              <a:spcAft>
                <a:spcPts val="0"/>
              </a:spcAft>
              <a:buClr>
                <a:schemeClr val="dk1"/>
              </a:buClr>
              <a:buSzPts val="1400"/>
              <a:buChar char="●"/>
            </a:pPr>
            <a:r>
              <a:rPr lang="en-GB" b="1">
                <a:solidFill>
                  <a:schemeClr val="dk1"/>
                </a:solidFill>
                <a:latin typeface="Quicksand"/>
                <a:ea typeface="Quicksand"/>
                <a:cs typeface="Quicksand"/>
                <a:sym typeface="Quicksand"/>
              </a:rPr>
              <a:t>Research &amp; Academic Community:</a:t>
            </a:r>
            <a:r>
              <a:rPr lang="en-GB">
                <a:solidFill>
                  <a:schemeClr val="dk1"/>
                </a:solidFill>
                <a:latin typeface="Quicksand"/>
                <a:ea typeface="Quicksand"/>
                <a:cs typeface="Quicksand"/>
                <a:sym typeface="Quicksand"/>
              </a:rPr>
              <a:t> Future students and researchers in Bangladesh can use this hybrid ML-Physics framework as a foundation for renewable energy studies.</a:t>
            </a:r>
            <a:endParaRPr>
              <a:solidFill>
                <a:schemeClr val="dk1"/>
              </a:solidFill>
              <a:latin typeface="Quicksand"/>
              <a:ea typeface="Quicksand"/>
              <a:cs typeface="Quicksand"/>
              <a:sym typeface="Quicksand"/>
            </a:endParaRPr>
          </a:p>
          <a:p>
            <a:pPr marL="0" lvl="0" indent="0" algn="l" rtl="0">
              <a:spcBef>
                <a:spcPts val="1200"/>
              </a:spcBef>
              <a:spcAft>
                <a:spcPts val="0"/>
              </a:spcAft>
              <a:buNone/>
            </a:pPr>
            <a:endParaRPr sz="1800">
              <a:solidFill>
                <a:schemeClr val="dk2"/>
              </a:solidFill>
            </a:endParaRPr>
          </a:p>
        </p:txBody>
      </p:sp>
      <p:pic>
        <p:nvPicPr>
          <p:cNvPr id="161" name="Google Shape;161;p24"/>
          <p:cNvPicPr preferRelativeResize="0"/>
          <p:nvPr/>
        </p:nvPicPr>
        <p:blipFill>
          <a:blip r:embed="rId5">
            <a:alphaModFix/>
          </a:blip>
          <a:stretch>
            <a:fillRect/>
          </a:stretch>
        </p:blipFill>
        <p:spPr>
          <a:xfrm>
            <a:off x="0" y="0"/>
            <a:ext cx="1350175" cy="1118700"/>
          </a:xfrm>
          <a:prstGeom prst="rect">
            <a:avLst/>
          </a:prstGeom>
          <a:noFill/>
          <a:ln>
            <a:noFill/>
          </a:ln>
        </p:spPr>
      </p:pic>
      <p:sp>
        <p:nvSpPr>
          <p:cNvPr id="162" name="Google Shape;162;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pic>
        <p:nvPicPr>
          <p:cNvPr id="167" name="Google Shape;167;p25"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sp>
        <p:nvSpPr>
          <p:cNvPr id="168" name="Google Shape;168;p25"/>
          <p:cNvSpPr txBox="1">
            <a:spLocks noGrp="1"/>
          </p:cNvSpPr>
          <p:nvPr>
            <p:ph type="title"/>
          </p:nvPr>
        </p:nvSpPr>
        <p:spPr>
          <a:xfrm>
            <a:off x="3020325" y="183350"/>
            <a:ext cx="5849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2720" b="1">
                <a:latin typeface="Quicksand"/>
                <a:ea typeface="Quicksand"/>
                <a:cs typeface="Quicksand"/>
                <a:sym typeface="Quicksand"/>
              </a:rPr>
              <a:t>Data Collection</a:t>
            </a:r>
            <a:endParaRPr sz="2720" b="1">
              <a:latin typeface="Quicksand"/>
              <a:ea typeface="Quicksand"/>
              <a:cs typeface="Quicksand"/>
              <a:sym typeface="Quicksand"/>
            </a:endParaRPr>
          </a:p>
        </p:txBody>
      </p:sp>
      <p:sp>
        <p:nvSpPr>
          <p:cNvPr id="169" name="Google Shape;169;p25"/>
          <p:cNvSpPr txBox="1">
            <a:spLocks noGrp="1"/>
          </p:cNvSpPr>
          <p:nvPr>
            <p:ph type="body" idx="1"/>
          </p:nvPr>
        </p:nvSpPr>
        <p:spPr>
          <a:xfrm>
            <a:off x="311700" y="1152475"/>
            <a:ext cx="4316100" cy="3693600"/>
          </a:xfrm>
          <a:prstGeom prst="rect">
            <a:avLst/>
          </a:prstGeom>
        </p:spPr>
        <p:txBody>
          <a:bodyPr spcFirstLastPara="1" wrap="square" lIns="91425" tIns="91425" rIns="91425" bIns="91425" anchor="t" anchorCtr="0">
            <a:normAutofit/>
          </a:bodyPr>
          <a:lstStyle/>
          <a:p>
            <a:pPr marL="0" lvl="0" indent="0" algn="l" rtl="0">
              <a:spcBef>
                <a:spcPts val="1400"/>
              </a:spcBef>
              <a:spcAft>
                <a:spcPts val="0"/>
              </a:spcAft>
              <a:buClr>
                <a:schemeClr val="dk1"/>
              </a:buClr>
              <a:buSzPts val="1100"/>
              <a:buFont typeface="Arial"/>
              <a:buNone/>
            </a:pPr>
            <a:r>
              <a:rPr lang="en-GB" sz="1600" b="1">
                <a:solidFill>
                  <a:schemeClr val="dk1"/>
                </a:solidFill>
                <a:latin typeface="Quicksand"/>
                <a:ea typeface="Quicksand"/>
                <a:cs typeface="Quicksand"/>
                <a:sym typeface="Quicksand"/>
              </a:rPr>
              <a:t>1. Primary Source: Ground-Truth Data</a:t>
            </a:r>
            <a:endParaRPr sz="1600" b="1">
              <a:solidFill>
                <a:schemeClr val="dk1"/>
              </a:solidFill>
              <a:latin typeface="Quicksand"/>
              <a:ea typeface="Quicksand"/>
              <a:cs typeface="Quicksand"/>
              <a:sym typeface="Quicksand"/>
            </a:endParaRPr>
          </a:p>
          <a:p>
            <a:pPr marL="457200" lvl="0" indent="-330200" algn="l" rtl="0">
              <a:spcBef>
                <a:spcPts val="1200"/>
              </a:spcBef>
              <a:spcAft>
                <a:spcPts val="0"/>
              </a:spcAft>
              <a:buClr>
                <a:schemeClr val="dk1"/>
              </a:buClr>
              <a:buSzPts val="1600"/>
              <a:buChar char="●"/>
            </a:pPr>
            <a:r>
              <a:rPr lang="en-GB" sz="1600" b="1">
                <a:solidFill>
                  <a:schemeClr val="dk1"/>
                </a:solidFill>
                <a:latin typeface="Quicksand"/>
                <a:ea typeface="Quicksand"/>
                <a:cs typeface="Quicksand"/>
                <a:sym typeface="Quicksand"/>
              </a:rPr>
              <a:t>Location:</a:t>
            </a:r>
            <a:r>
              <a:rPr lang="en-GB" sz="1600">
                <a:solidFill>
                  <a:schemeClr val="dk1"/>
                </a:solidFill>
                <a:latin typeface="Quicksand"/>
                <a:ea typeface="Quicksand"/>
                <a:cs typeface="Quicksand"/>
                <a:sym typeface="Quicksand"/>
              </a:rPr>
              <a:t> East West University (EWU) Campus, Aftabnagar, Dhaka.</a:t>
            </a:r>
            <a:endParaRPr sz="1600">
              <a:solidFill>
                <a:schemeClr val="dk1"/>
              </a:solidFill>
              <a:latin typeface="Quicksand"/>
              <a:ea typeface="Quicksand"/>
              <a:cs typeface="Quicksand"/>
              <a:sym typeface="Quicksand"/>
            </a:endParaRPr>
          </a:p>
          <a:p>
            <a:pPr marL="457200" lvl="0" indent="-330200" algn="l" rtl="0">
              <a:spcBef>
                <a:spcPts val="0"/>
              </a:spcBef>
              <a:spcAft>
                <a:spcPts val="0"/>
              </a:spcAft>
              <a:buClr>
                <a:schemeClr val="dk1"/>
              </a:buClr>
              <a:buSzPts val="1600"/>
              <a:buChar char="●"/>
            </a:pPr>
            <a:r>
              <a:rPr lang="en-GB" sz="1600" b="1">
                <a:solidFill>
                  <a:schemeClr val="dk1"/>
                </a:solidFill>
                <a:latin typeface="Quicksand"/>
                <a:ea typeface="Quicksand"/>
                <a:cs typeface="Quicksand"/>
                <a:sym typeface="Quicksand"/>
              </a:rPr>
              <a:t>Data Type:</a:t>
            </a:r>
            <a:r>
              <a:rPr lang="en-GB" sz="1600">
                <a:solidFill>
                  <a:schemeClr val="dk1"/>
                </a:solidFill>
                <a:latin typeface="Quicksand"/>
                <a:ea typeface="Quicksand"/>
                <a:cs typeface="Quicksand"/>
                <a:sym typeface="Quicksand"/>
              </a:rPr>
              <a:t> Real-time solar irradiance and power generation logs from the university's solar installation.</a:t>
            </a:r>
            <a:endParaRPr sz="1600">
              <a:solidFill>
                <a:schemeClr val="dk1"/>
              </a:solidFill>
              <a:latin typeface="Quicksand"/>
              <a:ea typeface="Quicksand"/>
              <a:cs typeface="Quicksand"/>
              <a:sym typeface="Quicksand"/>
            </a:endParaRPr>
          </a:p>
          <a:p>
            <a:pPr marL="457200" lvl="0" indent="-330200" algn="l" rtl="0">
              <a:spcBef>
                <a:spcPts val="0"/>
              </a:spcBef>
              <a:spcAft>
                <a:spcPts val="0"/>
              </a:spcAft>
              <a:buClr>
                <a:schemeClr val="dk1"/>
              </a:buClr>
              <a:buSzPts val="1600"/>
              <a:buChar char="●"/>
            </a:pPr>
            <a:r>
              <a:rPr lang="en-GB" sz="1600" b="1">
                <a:solidFill>
                  <a:schemeClr val="dk1"/>
                </a:solidFill>
                <a:latin typeface="Quicksand"/>
                <a:ea typeface="Quicksand"/>
                <a:cs typeface="Quicksand"/>
                <a:sym typeface="Quicksand"/>
              </a:rPr>
              <a:t>Significance:</a:t>
            </a:r>
            <a:r>
              <a:rPr lang="en-GB" sz="1600">
                <a:solidFill>
                  <a:schemeClr val="dk1"/>
                </a:solidFill>
                <a:latin typeface="Quicksand"/>
                <a:ea typeface="Quicksand"/>
                <a:cs typeface="Quicksand"/>
                <a:sym typeface="Quicksand"/>
              </a:rPr>
              <a:t> Provides high-resolution, localized data that reflects the specific micro-climate and urban pollution levels of Dhaka.</a:t>
            </a:r>
            <a:endParaRPr sz="1600">
              <a:solidFill>
                <a:schemeClr val="dk1"/>
              </a:solidFill>
              <a:latin typeface="Quicksand"/>
              <a:ea typeface="Quicksand"/>
              <a:cs typeface="Quicksand"/>
              <a:sym typeface="Quicksand"/>
            </a:endParaRPr>
          </a:p>
          <a:p>
            <a:pPr marL="0" lvl="0" indent="0" algn="l" rtl="0">
              <a:spcBef>
                <a:spcPts val="1200"/>
              </a:spcBef>
              <a:spcAft>
                <a:spcPts val="1200"/>
              </a:spcAft>
              <a:buNone/>
            </a:pPr>
            <a:endParaRPr sz="1600">
              <a:latin typeface="Quicksand"/>
              <a:ea typeface="Quicksand"/>
              <a:cs typeface="Quicksand"/>
              <a:sym typeface="Quicksand"/>
            </a:endParaRPr>
          </a:p>
        </p:txBody>
      </p:sp>
      <p:pic>
        <p:nvPicPr>
          <p:cNvPr id="170" name="Google Shape;170;p25"/>
          <p:cNvPicPr preferRelativeResize="0"/>
          <p:nvPr/>
        </p:nvPicPr>
        <p:blipFill>
          <a:blip r:embed="rId4">
            <a:alphaModFix/>
          </a:blip>
          <a:stretch>
            <a:fillRect/>
          </a:stretch>
        </p:blipFill>
        <p:spPr>
          <a:xfrm>
            <a:off x="0" y="0"/>
            <a:ext cx="1350175" cy="1118700"/>
          </a:xfrm>
          <a:prstGeom prst="rect">
            <a:avLst/>
          </a:prstGeom>
          <a:noFill/>
          <a:ln>
            <a:noFill/>
          </a:ln>
        </p:spPr>
      </p:pic>
      <p:sp>
        <p:nvSpPr>
          <p:cNvPr id="171" name="Google Shape;171;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26"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sp>
        <p:nvSpPr>
          <p:cNvPr id="177" name="Google Shape;177;p26"/>
          <p:cNvSpPr txBox="1">
            <a:spLocks noGrp="1"/>
          </p:cNvSpPr>
          <p:nvPr>
            <p:ph type="title"/>
          </p:nvPr>
        </p:nvSpPr>
        <p:spPr>
          <a:xfrm>
            <a:off x="3020325" y="183350"/>
            <a:ext cx="5849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2720" b="1">
                <a:latin typeface="Quicksand"/>
                <a:ea typeface="Quicksand"/>
                <a:cs typeface="Quicksand"/>
                <a:sym typeface="Quicksand"/>
              </a:rPr>
              <a:t>Data Collection</a:t>
            </a:r>
            <a:endParaRPr sz="2720" b="1">
              <a:latin typeface="Quicksand"/>
              <a:ea typeface="Quicksand"/>
              <a:cs typeface="Quicksand"/>
              <a:sym typeface="Quicksand"/>
            </a:endParaRPr>
          </a:p>
        </p:txBody>
      </p:sp>
      <p:sp>
        <p:nvSpPr>
          <p:cNvPr id="178" name="Google Shape;178;p26"/>
          <p:cNvSpPr txBox="1">
            <a:spLocks noGrp="1"/>
          </p:cNvSpPr>
          <p:nvPr>
            <p:ph type="body" idx="1"/>
          </p:nvPr>
        </p:nvSpPr>
        <p:spPr>
          <a:xfrm>
            <a:off x="311700" y="1152475"/>
            <a:ext cx="4316100" cy="3693600"/>
          </a:xfrm>
          <a:prstGeom prst="rect">
            <a:avLst/>
          </a:prstGeom>
        </p:spPr>
        <p:txBody>
          <a:bodyPr spcFirstLastPara="1" wrap="square" lIns="91425" tIns="91425" rIns="91425" bIns="91425" anchor="t" anchorCtr="0">
            <a:normAutofit lnSpcReduction="20000"/>
          </a:bodyPr>
          <a:lstStyle/>
          <a:p>
            <a:pPr marL="0" lvl="0" indent="0" algn="l" rtl="0">
              <a:spcBef>
                <a:spcPts val="1400"/>
              </a:spcBef>
              <a:spcAft>
                <a:spcPts val="0"/>
              </a:spcAft>
              <a:buNone/>
            </a:pPr>
            <a:r>
              <a:rPr lang="en-GB" sz="1600" b="1">
                <a:solidFill>
                  <a:schemeClr val="dk1"/>
                </a:solidFill>
                <a:latin typeface="Quicksand"/>
                <a:ea typeface="Quicksand"/>
                <a:cs typeface="Quicksand"/>
                <a:sym typeface="Quicksand"/>
              </a:rPr>
              <a:t>2. Secondary Source: NASA POWER API</a:t>
            </a:r>
            <a:endParaRPr sz="1600" b="1">
              <a:solidFill>
                <a:schemeClr val="dk1"/>
              </a:solidFill>
              <a:latin typeface="Quicksand"/>
              <a:ea typeface="Quicksand"/>
              <a:cs typeface="Quicksand"/>
              <a:sym typeface="Quicksand"/>
            </a:endParaRPr>
          </a:p>
          <a:p>
            <a:pPr marL="457200" lvl="0" indent="-330200" algn="l" rtl="0">
              <a:spcBef>
                <a:spcPts val="1200"/>
              </a:spcBef>
              <a:spcAft>
                <a:spcPts val="0"/>
              </a:spcAft>
              <a:buClr>
                <a:schemeClr val="dk1"/>
              </a:buClr>
              <a:buSzPts val="1600"/>
              <a:buChar char="●"/>
            </a:pPr>
            <a:r>
              <a:rPr lang="en-GB" sz="1600" b="1">
                <a:solidFill>
                  <a:schemeClr val="dk1"/>
                </a:solidFill>
                <a:latin typeface="Quicksand"/>
                <a:ea typeface="Quicksand"/>
                <a:cs typeface="Quicksand"/>
                <a:sym typeface="Quicksand"/>
              </a:rPr>
              <a:t>Data Type:</a:t>
            </a:r>
            <a:r>
              <a:rPr lang="en-GB" sz="1600">
                <a:solidFill>
                  <a:schemeClr val="dk1"/>
                </a:solidFill>
                <a:latin typeface="Quicksand"/>
                <a:ea typeface="Quicksand"/>
                <a:cs typeface="Quicksand"/>
                <a:sym typeface="Quicksand"/>
              </a:rPr>
              <a:t> Meteorological and Solar Estimation data.</a:t>
            </a:r>
            <a:endParaRPr sz="1600">
              <a:solidFill>
                <a:schemeClr val="dk1"/>
              </a:solidFill>
              <a:latin typeface="Quicksand"/>
              <a:ea typeface="Quicksand"/>
              <a:cs typeface="Quicksand"/>
              <a:sym typeface="Quicksand"/>
            </a:endParaRPr>
          </a:p>
          <a:p>
            <a:pPr marL="457200" lvl="0" indent="-330200" algn="l" rtl="0">
              <a:spcBef>
                <a:spcPts val="0"/>
              </a:spcBef>
              <a:spcAft>
                <a:spcPts val="0"/>
              </a:spcAft>
              <a:buClr>
                <a:schemeClr val="dk1"/>
              </a:buClr>
              <a:buSzPts val="1600"/>
              <a:buFont typeface="Quicksand"/>
              <a:buChar char="●"/>
            </a:pPr>
            <a:r>
              <a:rPr lang="en-GB" sz="1600" b="1">
                <a:solidFill>
                  <a:schemeClr val="dk1"/>
                </a:solidFill>
                <a:latin typeface="Quicksand"/>
                <a:ea typeface="Quicksand"/>
                <a:cs typeface="Quicksand"/>
                <a:sym typeface="Quicksand"/>
              </a:rPr>
              <a:t>Parameters Retrieved:</a:t>
            </a:r>
            <a:endParaRPr sz="1600" b="1">
              <a:solidFill>
                <a:schemeClr val="dk1"/>
              </a:solidFill>
              <a:latin typeface="Quicksand"/>
              <a:ea typeface="Quicksand"/>
              <a:cs typeface="Quicksand"/>
              <a:sym typeface="Quicksand"/>
            </a:endParaRPr>
          </a:p>
          <a:p>
            <a:pPr marL="914400" lvl="1" indent="-330200" algn="l" rtl="0">
              <a:spcBef>
                <a:spcPts val="0"/>
              </a:spcBef>
              <a:spcAft>
                <a:spcPts val="0"/>
              </a:spcAft>
              <a:buClr>
                <a:schemeClr val="dk1"/>
              </a:buClr>
              <a:buSzPts val="1600"/>
              <a:buFont typeface="Quicksand"/>
              <a:buChar char="○"/>
            </a:pPr>
            <a:r>
              <a:rPr lang="en-GB" sz="1600">
                <a:solidFill>
                  <a:schemeClr val="dk1"/>
                </a:solidFill>
                <a:latin typeface="Quicksand"/>
                <a:ea typeface="Quicksand"/>
                <a:cs typeface="Quicksand"/>
                <a:sym typeface="Quicksand"/>
              </a:rPr>
              <a:t>All-Sky Surface Shortwave Downward Irradiance</a:t>
            </a:r>
            <a:endParaRPr sz="1600">
              <a:solidFill>
                <a:schemeClr val="dk1"/>
              </a:solidFill>
              <a:latin typeface="Quicksand"/>
              <a:ea typeface="Quicksand"/>
              <a:cs typeface="Quicksand"/>
              <a:sym typeface="Quicksand"/>
            </a:endParaRPr>
          </a:p>
          <a:p>
            <a:pPr marL="914400" lvl="1" indent="-330200" algn="l" rtl="0">
              <a:spcBef>
                <a:spcPts val="0"/>
              </a:spcBef>
              <a:spcAft>
                <a:spcPts val="0"/>
              </a:spcAft>
              <a:buClr>
                <a:schemeClr val="dk1"/>
              </a:buClr>
              <a:buSzPts val="1600"/>
              <a:buFont typeface="Quicksand"/>
              <a:buChar char="○"/>
            </a:pPr>
            <a:r>
              <a:rPr lang="en-GB" sz="1600">
                <a:solidFill>
                  <a:schemeClr val="dk1"/>
                </a:solidFill>
                <a:latin typeface="Quicksand"/>
                <a:ea typeface="Quicksand"/>
                <a:cs typeface="Quicksand"/>
                <a:sym typeface="Quicksand"/>
              </a:rPr>
              <a:t>Air Temperature at 2 Meters</a:t>
            </a:r>
            <a:endParaRPr sz="1600">
              <a:solidFill>
                <a:schemeClr val="dk1"/>
              </a:solidFill>
              <a:latin typeface="Quicksand"/>
              <a:ea typeface="Quicksand"/>
              <a:cs typeface="Quicksand"/>
              <a:sym typeface="Quicksand"/>
            </a:endParaRPr>
          </a:p>
          <a:p>
            <a:pPr marL="914400" lvl="1" indent="-330200" algn="l" rtl="0">
              <a:spcBef>
                <a:spcPts val="0"/>
              </a:spcBef>
              <a:spcAft>
                <a:spcPts val="0"/>
              </a:spcAft>
              <a:buClr>
                <a:schemeClr val="dk1"/>
              </a:buClr>
              <a:buSzPts val="1600"/>
              <a:buFont typeface="Quicksand"/>
              <a:buChar char="○"/>
            </a:pPr>
            <a:r>
              <a:rPr lang="en-GB" sz="1600">
                <a:solidFill>
                  <a:schemeClr val="dk1"/>
                </a:solidFill>
                <a:latin typeface="Quicksand"/>
                <a:ea typeface="Quicksand"/>
                <a:cs typeface="Quicksand"/>
                <a:sym typeface="Quicksand"/>
              </a:rPr>
              <a:t>Relative Humidity</a:t>
            </a:r>
            <a:endParaRPr sz="1600">
              <a:solidFill>
                <a:schemeClr val="dk1"/>
              </a:solidFill>
              <a:latin typeface="Quicksand"/>
              <a:ea typeface="Quicksand"/>
              <a:cs typeface="Quicksand"/>
              <a:sym typeface="Quicksand"/>
            </a:endParaRPr>
          </a:p>
          <a:p>
            <a:pPr marL="914400" lvl="1" indent="-330200" algn="l" rtl="0">
              <a:spcBef>
                <a:spcPts val="0"/>
              </a:spcBef>
              <a:spcAft>
                <a:spcPts val="0"/>
              </a:spcAft>
              <a:buClr>
                <a:schemeClr val="dk1"/>
              </a:buClr>
              <a:buSzPts val="1600"/>
              <a:buFont typeface="Quicksand"/>
              <a:buChar char="○"/>
            </a:pPr>
            <a:r>
              <a:rPr lang="en-GB" sz="1600">
                <a:solidFill>
                  <a:schemeClr val="dk1"/>
                </a:solidFill>
                <a:latin typeface="Quicksand"/>
                <a:ea typeface="Quicksand"/>
                <a:cs typeface="Quicksand"/>
                <a:sym typeface="Quicksand"/>
              </a:rPr>
              <a:t>Precipitation (Rainfall)</a:t>
            </a:r>
            <a:endParaRPr sz="1600">
              <a:solidFill>
                <a:schemeClr val="dk1"/>
              </a:solidFill>
              <a:latin typeface="Quicksand"/>
              <a:ea typeface="Quicksand"/>
              <a:cs typeface="Quicksand"/>
              <a:sym typeface="Quicksand"/>
            </a:endParaRPr>
          </a:p>
          <a:p>
            <a:pPr marL="914400" lvl="1" indent="-330200" algn="l" rtl="0">
              <a:spcBef>
                <a:spcPts val="0"/>
              </a:spcBef>
              <a:spcAft>
                <a:spcPts val="0"/>
              </a:spcAft>
              <a:buClr>
                <a:schemeClr val="dk1"/>
              </a:buClr>
              <a:buSzPts val="1600"/>
              <a:buFont typeface="Quicksand"/>
              <a:buChar char="○"/>
            </a:pPr>
            <a:r>
              <a:rPr lang="en-GB" sz="1600">
                <a:solidFill>
                  <a:schemeClr val="dk1"/>
                </a:solidFill>
                <a:latin typeface="Quicksand"/>
                <a:ea typeface="Quicksand"/>
                <a:cs typeface="Quicksand"/>
                <a:sym typeface="Quicksand"/>
              </a:rPr>
              <a:t>Wind Speed &amp; Direction</a:t>
            </a:r>
            <a:endParaRPr sz="1600">
              <a:solidFill>
                <a:schemeClr val="dk1"/>
              </a:solidFill>
              <a:latin typeface="Quicksand"/>
              <a:ea typeface="Quicksand"/>
              <a:cs typeface="Quicksand"/>
              <a:sym typeface="Quicksand"/>
            </a:endParaRPr>
          </a:p>
          <a:p>
            <a:pPr marL="457200" lvl="0" indent="0" algn="l" rtl="0">
              <a:spcBef>
                <a:spcPts val="1200"/>
              </a:spcBef>
              <a:spcAft>
                <a:spcPts val="0"/>
              </a:spcAft>
              <a:buNone/>
            </a:pPr>
            <a:r>
              <a:rPr lang="en-GB" sz="1600">
                <a:solidFill>
                  <a:schemeClr val="dk1"/>
                </a:solidFill>
                <a:latin typeface="Quicksand"/>
                <a:ea typeface="Quicksand"/>
                <a:cs typeface="Quicksand"/>
                <a:sym typeface="Quicksand"/>
              </a:rPr>
              <a:t>.</a:t>
            </a:r>
            <a:endParaRPr sz="1600">
              <a:solidFill>
                <a:schemeClr val="dk1"/>
              </a:solidFill>
              <a:latin typeface="Quicksand"/>
              <a:ea typeface="Quicksand"/>
              <a:cs typeface="Quicksand"/>
              <a:sym typeface="Quicksand"/>
            </a:endParaRPr>
          </a:p>
          <a:p>
            <a:pPr marL="0" lvl="0" indent="0" algn="l" rtl="0">
              <a:spcBef>
                <a:spcPts val="1200"/>
              </a:spcBef>
              <a:spcAft>
                <a:spcPts val="1200"/>
              </a:spcAft>
              <a:buNone/>
            </a:pPr>
            <a:endParaRPr sz="1600">
              <a:latin typeface="Quicksand"/>
              <a:ea typeface="Quicksand"/>
              <a:cs typeface="Quicksand"/>
              <a:sym typeface="Quicksand"/>
            </a:endParaRPr>
          </a:p>
        </p:txBody>
      </p:sp>
      <p:pic>
        <p:nvPicPr>
          <p:cNvPr id="179" name="Google Shape;179;p26"/>
          <p:cNvPicPr preferRelativeResize="0"/>
          <p:nvPr/>
        </p:nvPicPr>
        <p:blipFill>
          <a:blip r:embed="rId4">
            <a:alphaModFix/>
          </a:blip>
          <a:stretch>
            <a:fillRect/>
          </a:stretch>
        </p:blipFill>
        <p:spPr>
          <a:xfrm>
            <a:off x="0" y="0"/>
            <a:ext cx="1350175" cy="1118700"/>
          </a:xfrm>
          <a:prstGeom prst="rect">
            <a:avLst/>
          </a:prstGeom>
          <a:noFill/>
          <a:ln>
            <a:noFill/>
          </a:ln>
        </p:spPr>
      </p:pic>
      <p:pic>
        <p:nvPicPr>
          <p:cNvPr id="180" name="Google Shape;180;p26"/>
          <p:cNvPicPr preferRelativeResize="0"/>
          <p:nvPr/>
        </p:nvPicPr>
        <p:blipFill>
          <a:blip r:embed="rId5">
            <a:alphaModFix/>
          </a:blip>
          <a:stretch>
            <a:fillRect/>
          </a:stretch>
        </p:blipFill>
        <p:spPr>
          <a:xfrm>
            <a:off x="4572000" y="924225"/>
            <a:ext cx="4571999" cy="4074625"/>
          </a:xfrm>
          <a:prstGeom prst="rect">
            <a:avLst/>
          </a:prstGeom>
          <a:noFill/>
          <a:ln>
            <a:noFill/>
          </a:ln>
        </p:spPr>
      </p:pic>
      <p:sp>
        <p:nvSpPr>
          <p:cNvPr id="181" name="Google Shape;181;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27"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sp>
        <p:nvSpPr>
          <p:cNvPr id="187" name="Google Shape;187;p27"/>
          <p:cNvSpPr txBox="1">
            <a:spLocks noGrp="1"/>
          </p:cNvSpPr>
          <p:nvPr>
            <p:ph type="title"/>
          </p:nvPr>
        </p:nvSpPr>
        <p:spPr>
          <a:xfrm>
            <a:off x="3170250" y="101125"/>
            <a:ext cx="2803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GB" sz="2620" b="1">
                <a:latin typeface="Quicksand"/>
                <a:ea typeface="Quicksand"/>
                <a:cs typeface="Quicksand"/>
                <a:sym typeface="Quicksand"/>
              </a:rPr>
              <a:t>Methodology</a:t>
            </a:r>
            <a:endParaRPr sz="2620" b="1">
              <a:latin typeface="Quicksand"/>
              <a:ea typeface="Quicksand"/>
              <a:cs typeface="Quicksand"/>
              <a:sym typeface="Quicksand"/>
            </a:endParaRPr>
          </a:p>
        </p:txBody>
      </p:sp>
      <p:sp>
        <p:nvSpPr>
          <p:cNvPr id="188" name="Google Shape;188;p27"/>
          <p:cNvSpPr txBox="1">
            <a:spLocks noGrp="1"/>
          </p:cNvSpPr>
          <p:nvPr>
            <p:ph type="body" idx="1"/>
          </p:nvPr>
        </p:nvSpPr>
        <p:spPr>
          <a:xfrm>
            <a:off x="311700" y="1277850"/>
            <a:ext cx="8511000" cy="3346500"/>
          </a:xfrm>
          <a:prstGeom prst="rect">
            <a:avLst/>
          </a:prstGeom>
        </p:spPr>
        <p:txBody>
          <a:bodyPr spcFirstLastPara="1" wrap="square" lIns="91425" tIns="91425" rIns="91425" bIns="91425" anchor="t" anchorCtr="0">
            <a:normAutofit/>
          </a:bodyPr>
          <a:lstStyle/>
          <a:p>
            <a:pPr marL="0" lvl="0" indent="0" algn="l" rtl="0">
              <a:spcBef>
                <a:spcPts val="1400"/>
              </a:spcBef>
              <a:spcAft>
                <a:spcPts val="0"/>
              </a:spcAft>
              <a:buClr>
                <a:schemeClr val="dk1"/>
              </a:buClr>
              <a:buSzPts val="1100"/>
              <a:buFont typeface="Arial"/>
              <a:buNone/>
            </a:pPr>
            <a:r>
              <a:rPr lang="en-GB" sz="1620" b="1">
                <a:solidFill>
                  <a:schemeClr val="dk1"/>
                </a:solidFill>
                <a:latin typeface="Quicksand"/>
                <a:ea typeface="Quicksand"/>
                <a:cs typeface="Quicksand"/>
                <a:sym typeface="Quicksand"/>
              </a:rPr>
              <a:t>1. Data Gathering </a:t>
            </a:r>
            <a:endParaRPr sz="1620" b="1">
              <a:solidFill>
                <a:schemeClr val="dk1"/>
              </a:solidFill>
              <a:latin typeface="Quicksand"/>
              <a:ea typeface="Quicksand"/>
              <a:cs typeface="Quicksand"/>
              <a:sym typeface="Quicksand"/>
            </a:endParaRPr>
          </a:p>
          <a:p>
            <a:pPr marL="457200" lvl="0" indent="-331438" algn="l" rtl="0">
              <a:spcBef>
                <a:spcPts val="1200"/>
              </a:spcBef>
              <a:spcAft>
                <a:spcPts val="0"/>
              </a:spcAft>
              <a:buClr>
                <a:schemeClr val="dk1"/>
              </a:buClr>
              <a:buSzPts val="1620"/>
              <a:buChar char="●"/>
            </a:pPr>
            <a:r>
              <a:rPr lang="en-GB" sz="1620" b="1">
                <a:solidFill>
                  <a:schemeClr val="dk1"/>
                </a:solidFill>
                <a:latin typeface="Quicksand"/>
                <a:ea typeface="Quicksand"/>
                <a:cs typeface="Quicksand"/>
                <a:sym typeface="Quicksand"/>
              </a:rPr>
              <a:t>Local:</a:t>
            </a:r>
            <a:r>
              <a:rPr lang="en-GB" sz="1620">
                <a:solidFill>
                  <a:schemeClr val="dk1"/>
                </a:solidFill>
                <a:latin typeface="Quicksand"/>
                <a:ea typeface="Quicksand"/>
                <a:cs typeface="Quicksand"/>
                <a:sym typeface="Quicksand"/>
              </a:rPr>
              <a:t> Solar logs from </a:t>
            </a:r>
            <a:r>
              <a:rPr lang="en-GB" sz="1620" b="1">
                <a:solidFill>
                  <a:schemeClr val="dk1"/>
                </a:solidFill>
                <a:latin typeface="Quicksand"/>
                <a:ea typeface="Quicksand"/>
                <a:cs typeface="Quicksand"/>
                <a:sym typeface="Quicksand"/>
              </a:rPr>
              <a:t>East West University (EWU)</a:t>
            </a:r>
            <a:r>
              <a:rPr lang="en-GB" sz="1620">
                <a:solidFill>
                  <a:schemeClr val="dk1"/>
                </a:solidFill>
                <a:latin typeface="Quicksand"/>
                <a:ea typeface="Quicksand"/>
                <a:cs typeface="Quicksand"/>
                <a:sym typeface="Quicksand"/>
              </a:rPr>
              <a:t>.</a:t>
            </a:r>
            <a:endParaRPr sz="1620">
              <a:solidFill>
                <a:schemeClr val="dk1"/>
              </a:solidFill>
              <a:latin typeface="Quicksand"/>
              <a:ea typeface="Quicksand"/>
              <a:cs typeface="Quicksand"/>
              <a:sym typeface="Quicksand"/>
            </a:endParaRPr>
          </a:p>
          <a:p>
            <a:pPr marL="457200" lvl="0" indent="-331438" algn="l" rtl="0">
              <a:spcBef>
                <a:spcPts val="0"/>
              </a:spcBef>
              <a:spcAft>
                <a:spcPts val="0"/>
              </a:spcAft>
              <a:buClr>
                <a:schemeClr val="dk1"/>
              </a:buClr>
              <a:buSzPts val="1620"/>
              <a:buChar char="●"/>
            </a:pPr>
            <a:r>
              <a:rPr lang="en-GB" sz="1620" b="1">
                <a:solidFill>
                  <a:schemeClr val="dk1"/>
                </a:solidFill>
                <a:latin typeface="Quicksand"/>
                <a:ea typeface="Quicksand"/>
                <a:cs typeface="Quicksand"/>
                <a:sym typeface="Quicksand"/>
              </a:rPr>
              <a:t>Global:</a:t>
            </a:r>
            <a:r>
              <a:rPr lang="en-GB" sz="1620">
                <a:solidFill>
                  <a:schemeClr val="dk1"/>
                </a:solidFill>
                <a:latin typeface="Quicksand"/>
                <a:ea typeface="Quicksand"/>
                <a:cs typeface="Quicksand"/>
                <a:sym typeface="Quicksand"/>
              </a:rPr>
              <a:t> Weather data from </a:t>
            </a:r>
            <a:r>
              <a:rPr lang="en-GB" sz="1620" b="1">
                <a:solidFill>
                  <a:schemeClr val="dk1"/>
                </a:solidFill>
                <a:latin typeface="Quicksand"/>
                <a:ea typeface="Quicksand"/>
                <a:cs typeface="Quicksand"/>
                <a:sym typeface="Quicksand"/>
              </a:rPr>
              <a:t>NASA POWER</a:t>
            </a:r>
            <a:r>
              <a:rPr lang="en-GB" sz="1620">
                <a:solidFill>
                  <a:schemeClr val="dk1"/>
                </a:solidFill>
                <a:latin typeface="Quicksand"/>
                <a:ea typeface="Quicksand"/>
                <a:cs typeface="Quicksand"/>
                <a:sym typeface="Quicksand"/>
              </a:rPr>
              <a:t>.</a:t>
            </a:r>
            <a:endParaRPr sz="1620">
              <a:solidFill>
                <a:schemeClr val="dk1"/>
              </a:solidFill>
              <a:latin typeface="Quicksand"/>
              <a:ea typeface="Quicksand"/>
              <a:cs typeface="Quicksand"/>
              <a:sym typeface="Quicksand"/>
            </a:endParaRPr>
          </a:p>
          <a:p>
            <a:pPr marL="0" lvl="0" indent="0" algn="l" rtl="0">
              <a:spcBef>
                <a:spcPts val="1400"/>
              </a:spcBef>
              <a:spcAft>
                <a:spcPts val="0"/>
              </a:spcAft>
              <a:buClr>
                <a:schemeClr val="dk1"/>
              </a:buClr>
              <a:buSzPts val="1100"/>
              <a:buFont typeface="Arial"/>
              <a:buNone/>
            </a:pPr>
            <a:r>
              <a:rPr lang="en-GB" sz="1620" b="1">
                <a:solidFill>
                  <a:schemeClr val="dk1"/>
                </a:solidFill>
                <a:latin typeface="Quicksand"/>
                <a:ea typeface="Quicksand"/>
                <a:cs typeface="Quicksand"/>
                <a:sym typeface="Quicksand"/>
              </a:rPr>
              <a:t>2. Data "Cleaning" </a:t>
            </a:r>
            <a:endParaRPr sz="1620" b="1">
              <a:solidFill>
                <a:schemeClr val="dk1"/>
              </a:solidFill>
              <a:latin typeface="Quicksand"/>
              <a:ea typeface="Quicksand"/>
              <a:cs typeface="Quicksand"/>
              <a:sym typeface="Quicksand"/>
            </a:endParaRPr>
          </a:p>
          <a:p>
            <a:pPr marL="457200" lvl="0" indent="-331438" algn="l" rtl="0">
              <a:spcBef>
                <a:spcPts val="1200"/>
              </a:spcBef>
              <a:spcAft>
                <a:spcPts val="0"/>
              </a:spcAft>
              <a:buClr>
                <a:schemeClr val="dk1"/>
              </a:buClr>
              <a:buSzPts val="1620"/>
              <a:buFont typeface="Quicksand"/>
              <a:buChar char="●"/>
            </a:pPr>
            <a:r>
              <a:rPr lang="en-GB" sz="1620">
                <a:solidFill>
                  <a:schemeClr val="dk1"/>
                </a:solidFill>
                <a:latin typeface="Quicksand"/>
                <a:ea typeface="Quicksand"/>
                <a:cs typeface="Quicksand"/>
                <a:sym typeface="Quicksand"/>
              </a:rPr>
              <a:t>Fixed missing data and removed "noise" (errors).</a:t>
            </a:r>
            <a:endParaRPr sz="1620">
              <a:solidFill>
                <a:schemeClr val="dk1"/>
              </a:solidFill>
              <a:latin typeface="Quicksand"/>
              <a:ea typeface="Quicksand"/>
              <a:cs typeface="Quicksand"/>
              <a:sym typeface="Quicksand"/>
            </a:endParaRPr>
          </a:p>
          <a:p>
            <a:pPr marL="457200" lvl="0" indent="-331438" algn="l" rtl="0">
              <a:spcBef>
                <a:spcPts val="0"/>
              </a:spcBef>
              <a:spcAft>
                <a:spcPts val="0"/>
              </a:spcAft>
              <a:buClr>
                <a:schemeClr val="dk1"/>
              </a:buClr>
              <a:buSzPts val="1620"/>
              <a:buFont typeface="Quicksand"/>
              <a:buChar char="●"/>
            </a:pPr>
            <a:r>
              <a:rPr lang="en-GB" sz="1620">
                <a:solidFill>
                  <a:schemeClr val="dk1"/>
                </a:solidFill>
                <a:latin typeface="Quicksand"/>
                <a:ea typeface="Quicksand"/>
                <a:cs typeface="Quicksand"/>
                <a:sym typeface="Quicksand"/>
              </a:rPr>
              <a:t>Synced the two datasets together by time and date.</a:t>
            </a:r>
            <a:endParaRPr sz="1620">
              <a:solidFill>
                <a:schemeClr val="dk1"/>
              </a:solidFill>
              <a:latin typeface="Quicksand"/>
              <a:ea typeface="Quicksand"/>
              <a:cs typeface="Quicksand"/>
              <a:sym typeface="Quicksand"/>
            </a:endParaRPr>
          </a:p>
          <a:p>
            <a:pPr marL="0" lvl="0" indent="0" algn="l" rtl="0">
              <a:spcBef>
                <a:spcPts val="1200"/>
              </a:spcBef>
              <a:spcAft>
                <a:spcPts val="1200"/>
              </a:spcAft>
              <a:buNone/>
            </a:pPr>
            <a:endParaRPr/>
          </a:p>
        </p:txBody>
      </p:sp>
      <p:pic>
        <p:nvPicPr>
          <p:cNvPr id="189" name="Google Shape;189;p27"/>
          <p:cNvPicPr preferRelativeResize="0"/>
          <p:nvPr/>
        </p:nvPicPr>
        <p:blipFill>
          <a:blip r:embed="rId4">
            <a:alphaModFix/>
          </a:blip>
          <a:stretch>
            <a:fillRect/>
          </a:stretch>
        </p:blipFill>
        <p:spPr>
          <a:xfrm>
            <a:off x="0" y="0"/>
            <a:ext cx="1350175" cy="1118700"/>
          </a:xfrm>
          <a:prstGeom prst="rect">
            <a:avLst/>
          </a:prstGeom>
          <a:noFill/>
          <a:ln>
            <a:noFill/>
          </a:ln>
        </p:spPr>
      </p:pic>
      <p:sp>
        <p:nvSpPr>
          <p:cNvPr id="190" name="Google Shape;190;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8"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sp>
        <p:nvSpPr>
          <p:cNvPr id="196" name="Google Shape;196;p28"/>
          <p:cNvSpPr txBox="1">
            <a:spLocks noGrp="1"/>
          </p:cNvSpPr>
          <p:nvPr>
            <p:ph type="title"/>
          </p:nvPr>
        </p:nvSpPr>
        <p:spPr>
          <a:xfrm>
            <a:off x="3170250" y="101125"/>
            <a:ext cx="2803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GB" sz="2620" b="1">
                <a:latin typeface="Quicksand"/>
                <a:ea typeface="Quicksand"/>
                <a:cs typeface="Quicksand"/>
                <a:sym typeface="Quicksand"/>
              </a:rPr>
              <a:t>Methodology</a:t>
            </a:r>
            <a:endParaRPr sz="2620" b="1">
              <a:latin typeface="Quicksand"/>
              <a:ea typeface="Quicksand"/>
              <a:cs typeface="Quicksand"/>
              <a:sym typeface="Quicksand"/>
            </a:endParaRPr>
          </a:p>
        </p:txBody>
      </p:sp>
      <p:sp>
        <p:nvSpPr>
          <p:cNvPr id="197" name="Google Shape;197;p28"/>
          <p:cNvSpPr txBox="1">
            <a:spLocks noGrp="1"/>
          </p:cNvSpPr>
          <p:nvPr>
            <p:ph type="body" idx="1"/>
          </p:nvPr>
        </p:nvSpPr>
        <p:spPr>
          <a:xfrm>
            <a:off x="311700" y="998150"/>
            <a:ext cx="8520600" cy="4008600"/>
          </a:xfrm>
          <a:prstGeom prst="rect">
            <a:avLst/>
          </a:prstGeom>
        </p:spPr>
        <p:txBody>
          <a:bodyPr spcFirstLastPara="1" wrap="square" lIns="91425" tIns="91425" rIns="91425" bIns="91425" anchor="t" anchorCtr="0">
            <a:normAutofit fontScale="40000" lnSpcReduction="10000"/>
          </a:bodyPr>
          <a:lstStyle/>
          <a:p>
            <a:pPr marL="0" lvl="0" indent="0" algn="l" rtl="0">
              <a:spcBef>
                <a:spcPts val="1400"/>
              </a:spcBef>
              <a:spcAft>
                <a:spcPts val="0"/>
              </a:spcAft>
              <a:buNone/>
            </a:pPr>
            <a:r>
              <a:rPr lang="en-GB" sz="3650" b="1">
                <a:solidFill>
                  <a:schemeClr val="dk1"/>
                </a:solidFill>
                <a:latin typeface="Quicksand"/>
                <a:ea typeface="Quicksand"/>
                <a:cs typeface="Quicksand"/>
                <a:sym typeface="Quicksand"/>
              </a:rPr>
              <a:t>3</a:t>
            </a:r>
            <a:r>
              <a:rPr lang="en-GB" sz="3650" b="1">
                <a:solidFill>
                  <a:srgbClr val="000000"/>
                </a:solidFill>
                <a:latin typeface="Quicksand"/>
                <a:ea typeface="Quicksand"/>
                <a:cs typeface="Quicksand"/>
                <a:sym typeface="Quicksand"/>
              </a:rPr>
              <a:t>. The "AI Battle" (5 Models) </a:t>
            </a:r>
            <a:endParaRPr sz="3650" b="1">
              <a:solidFill>
                <a:srgbClr val="000000"/>
              </a:solidFill>
              <a:latin typeface="Quicksand"/>
              <a:ea typeface="Quicksand"/>
              <a:cs typeface="Quicksand"/>
              <a:sym typeface="Quicksand"/>
            </a:endParaRPr>
          </a:p>
          <a:p>
            <a:pPr marL="0" lvl="0" indent="0" algn="l" rtl="0">
              <a:spcBef>
                <a:spcPts val="1200"/>
              </a:spcBef>
              <a:spcAft>
                <a:spcPts val="0"/>
              </a:spcAft>
              <a:buNone/>
            </a:pPr>
            <a:r>
              <a:rPr lang="en-GB" sz="3650">
                <a:solidFill>
                  <a:srgbClr val="000000"/>
                </a:solidFill>
                <a:latin typeface="Quicksand"/>
                <a:ea typeface="Quicksand"/>
                <a:cs typeface="Quicksand"/>
                <a:sym typeface="Quicksand"/>
              </a:rPr>
              <a:t>We tested 5 different AI "brains" to see which predicts solar power best:</a:t>
            </a:r>
            <a:endParaRPr sz="3650">
              <a:solidFill>
                <a:srgbClr val="000000"/>
              </a:solidFill>
              <a:latin typeface="Quicksand"/>
              <a:ea typeface="Quicksand"/>
              <a:cs typeface="Quicksand"/>
              <a:sym typeface="Quicksand"/>
            </a:endParaRPr>
          </a:p>
          <a:p>
            <a:pPr marL="457200" lvl="0" indent="-321299" algn="l" rtl="0">
              <a:spcBef>
                <a:spcPts val="1200"/>
              </a:spcBef>
              <a:spcAft>
                <a:spcPts val="0"/>
              </a:spcAft>
              <a:buClr>
                <a:srgbClr val="000000"/>
              </a:buClr>
              <a:buSzPct val="100000"/>
              <a:buAutoNum type="arabicPeriod"/>
            </a:pPr>
            <a:r>
              <a:rPr lang="en-GB" sz="3650">
                <a:solidFill>
                  <a:srgbClr val="000000"/>
                </a:solidFill>
                <a:latin typeface="Quicksand"/>
                <a:ea typeface="Quicksand"/>
                <a:cs typeface="Quicksand"/>
                <a:sym typeface="Quicksand"/>
              </a:rPr>
              <a:t>ANN (Artificial Neural Network)</a:t>
            </a:r>
            <a:endParaRPr sz="3650">
              <a:solidFill>
                <a:srgbClr val="000000"/>
              </a:solidFill>
              <a:latin typeface="Quicksand"/>
              <a:ea typeface="Quicksand"/>
              <a:cs typeface="Quicksand"/>
              <a:sym typeface="Quicksand"/>
            </a:endParaRPr>
          </a:p>
          <a:p>
            <a:pPr marL="457200" lvl="0" indent="-321299" algn="l" rtl="0">
              <a:spcBef>
                <a:spcPts val="0"/>
              </a:spcBef>
              <a:spcAft>
                <a:spcPts val="0"/>
              </a:spcAft>
              <a:buClr>
                <a:srgbClr val="000000"/>
              </a:buClr>
              <a:buSzPct val="100000"/>
              <a:buAutoNum type="arabicPeriod"/>
            </a:pPr>
            <a:r>
              <a:rPr lang="en-GB" sz="3650">
                <a:solidFill>
                  <a:srgbClr val="000000"/>
                </a:solidFill>
                <a:latin typeface="Quicksand"/>
                <a:ea typeface="Quicksand"/>
                <a:cs typeface="Quicksand"/>
                <a:sym typeface="Quicksand"/>
              </a:rPr>
              <a:t>XGBoost (Fast &amp; Powerful)</a:t>
            </a:r>
            <a:endParaRPr sz="3650">
              <a:solidFill>
                <a:srgbClr val="000000"/>
              </a:solidFill>
              <a:latin typeface="Quicksand"/>
              <a:ea typeface="Quicksand"/>
              <a:cs typeface="Quicksand"/>
              <a:sym typeface="Quicksand"/>
            </a:endParaRPr>
          </a:p>
          <a:p>
            <a:pPr marL="457200" lvl="0" indent="-321299" algn="l" rtl="0">
              <a:spcBef>
                <a:spcPts val="0"/>
              </a:spcBef>
              <a:spcAft>
                <a:spcPts val="0"/>
              </a:spcAft>
              <a:buClr>
                <a:srgbClr val="000000"/>
              </a:buClr>
              <a:buSzPct val="100000"/>
              <a:buAutoNum type="arabicPeriod"/>
            </a:pPr>
            <a:r>
              <a:rPr lang="en-GB" sz="3650">
                <a:solidFill>
                  <a:srgbClr val="000000"/>
                </a:solidFill>
                <a:latin typeface="Quicksand"/>
                <a:ea typeface="Quicksand"/>
                <a:cs typeface="Quicksand"/>
                <a:sym typeface="Quicksand"/>
              </a:rPr>
              <a:t>LightGBM (Efficient)</a:t>
            </a:r>
            <a:endParaRPr sz="3650">
              <a:solidFill>
                <a:srgbClr val="000000"/>
              </a:solidFill>
              <a:latin typeface="Quicksand"/>
              <a:ea typeface="Quicksand"/>
              <a:cs typeface="Quicksand"/>
              <a:sym typeface="Quicksand"/>
            </a:endParaRPr>
          </a:p>
          <a:p>
            <a:pPr marL="457200" lvl="0" indent="-321299" algn="l" rtl="0">
              <a:spcBef>
                <a:spcPts val="0"/>
              </a:spcBef>
              <a:spcAft>
                <a:spcPts val="0"/>
              </a:spcAft>
              <a:buClr>
                <a:srgbClr val="000000"/>
              </a:buClr>
              <a:buSzPct val="100000"/>
              <a:buAutoNum type="arabicPeriod"/>
            </a:pPr>
            <a:r>
              <a:rPr lang="en-GB" sz="3650">
                <a:solidFill>
                  <a:srgbClr val="000000"/>
                </a:solidFill>
                <a:latin typeface="Quicksand"/>
                <a:ea typeface="Quicksand"/>
                <a:cs typeface="Quicksand"/>
                <a:sym typeface="Quicksand"/>
              </a:rPr>
              <a:t>CatBoost (Smart with weather categories)</a:t>
            </a:r>
            <a:endParaRPr sz="3650">
              <a:solidFill>
                <a:srgbClr val="000000"/>
              </a:solidFill>
              <a:latin typeface="Quicksand"/>
              <a:ea typeface="Quicksand"/>
              <a:cs typeface="Quicksand"/>
              <a:sym typeface="Quicksand"/>
            </a:endParaRPr>
          </a:p>
          <a:p>
            <a:pPr marL="457200" lvl="0" indent="-321299" algn="l" rtl="0">
              <a:spcBef>
                <a:spcPts val="0"/>
              </a:spcBef>
              <a:spcAft>
                <a:spcPts val="0"/>
              </a:spcAft>
              <a:buClr>
                <a:srgbClr val="000000"/>
              </a:buClr>
              <a:buSzPct val="100000"/>
              <a:buAutoNum type="arabicPeriod"/>
            </a:pPr>
            <a:r>
              <a:rPr lang="en-GB" sz="3650">
                <a:solidFill>
                  <a:srgbClr val="000000"/>
                </a:solidFill>
                <a:latin typeface="Quicksand"/>
                <a:ea typeface="Quicksand"/>
                <a:cs typeface="Quicksand"/>
                <a:sym typeface="Quicksand"/>
              </a:rPr>
              <a:t>Gradient Boosting (Reliable baseline)</a:t>
            </a:r>
            <a:endParaRPr sz="3650">
              <a:solidFill>
                <a:srgbClr val="000000"/>
              </a:solidFill>
              <a:latin typeface="Quicksand"/>
              <a:ea typeface="Quicksand"/>
              <a:cs typeface="Quicksand"/>
              <a:sym typeface="Quicksand"/>
            </a:endParaRPr>
          </a:p>
          <a:p>
            <a:pPr marL="0" lvl="0" indent="0" algn="l" rtl="0">
              <a:spcBef>
                <a:spcPts val="1400"/>
              </a:spcBef>
              <a:spcAft>
                <a:spcPts val="0"/>
              </a:spcAft>
              <a:buNone/>
            </a:pPr>
            <a:r>
              <a:rPr lang="en-GB" sz="3650" b="1">
                <a:solidFill>
                  <a:srgbClr val="000000"/>
                </a:solidFill>
                <a:latin typeface="Quicksand"/>
                <a:ea typeface="Quicksand"/>
                <a:cs typeface="Quicksand"/>
                <a:sym typeface="Quicksand"/>
              </a:rPr>
              <a:t>4. Result: Smart Backup Tool </a:t>
            </a:r>
            <a:endParaRPr sz="3650" b="1">
              <a:solidFill>
                <a:srgbClr val="000000"/>
              </a:solidFill>
              <a:latin typeface="Quicksand"/>
              <a:ea typeface="Quicksand"/>
              <a:cs typeface="Quicksand"/>
              <a:sym typeface="Quicksand"/>
            </a:endParaRPr>
          </a:p>
          <a:p>
            <a:pPr marL="457200" lvl="0" indent="-321299" algn="l" rtl="0">
              <a:spcBef>
                <a:spcPts val="1200"/>
              </a:spcBef>
              <a:spcAft>
                <a:spcPts val="0"/>
              </a:spcAft>
              <a:buClr>
                <a:srgbClr val="000000"/>
              </a:buClr>
              <a:buSzPct val="100000"/>
              <a:buChar char="●"/>
            </a:pPr>
            <a:r>
              <a:rPr lang="en-GB" sz="3650">
                <a:solidFill>
                  <a:srgbClr val="000000"/>
                </a:solidFill>
                <a:latin typeface="Quicksand"/>
                <a:ea typeface="Quicksand"/>
                <a:cs typeface="Quicksand"/>
                <a:sym typeface="Quicksand"/>
              </a:rPr>
              <a:t>Pick the best model.</a:t>
            </a:r>
            <a:endParaRPr sz="3650">
              <a:solidFill>
                <a:srgbClr val="000000"/>
              </a:solidFill>
              <a:latin typeface="Quicksand"/>
              <a:ea typeface="Quicksand"/>
              <a:cs typeface="Quicksand"/>
              <a:sym typeface="Quicksand"/>
            </a:endParaRPr>
          </a:p>
          <a:p>
            <a:pPr marL="457200" lvl="0" indent="-321299" algn="l" rtl="0">
              <a:spcBef>
                <a:spcPts val="0"/>
              </a:spcBef>
              <a:spcAft>
                <a:spcPts val="0"/>
              </a:spcAft>
              <a:buClr>
                <a:srgbClr val="000000"/>
              </a:buClr>
              <a:buSzPct val="100000"/>
              <a:buChar char="●"/>
            </a:pPr>
            <a:r>
              <a:rPr lang="en-GB" sz="3650">
                <a:solidFill>
                  <a:srgbClr val="000000"/>
                </a:solidFill>
                <a:latin typeface="Quicksand"/>
                <a:ea typeface="Quicksand"/>
                <a:cs typeface="Quicksand"/>
                <a:sym typeface="Quicksand"/>
              </a:rPr>
              <a:t>Link it to a Streamlit Dashboard.</a:t>
            </a:r>
            <a:endParaRPr sz="3650">
              <a:solidFill>
                <a:srgbClr val="000000"/>
              </a:solidFill>
              <a:latin typeface="Quicksand"/>
              <a:ea typeface="Quicksand"/>
              <a:cs typeface="Quicksand"/>
              <a:sym typeface="Quicksand"/>
            </a:endParaRPr>
          </a:p>
          <a:p>
            <a:pPr marL="457200" lvl="0" indent="-321299" algn="l" rtl="0">
              <a:spcBef>
                <a:spcPts val="0"/>
              </a:spcBef>
              <a:spcAft>
                <a:spcPts val="0"/>
              </a:spcAft>
              <a:buClr>
                <a:srgbClr val="000000"/>
              </a:buClr>
              <a:buSzPct val="100000"/>
              <a:buChar char="●"/>
            </a:pPr>
            <a:r>
              <a:rPr lang="en-GB" sz="3650">
                <a:solidFill>
                  <a:srgbClr val="000000"/>
                </a:solidFill>
                <a:latin typeface="Quicksand"/>
                <a:ea typeface="Quicksand"/>
                <a:cs typeface="Quicksand"/>
                <a:sym typeface="Quicksand"/>
              </a:rPr>
              <a:t>Calculate exactly how many hours of battery and the output backup power.</a:t>
            </a:r>
            <a:endParaRPr sz="3650">
              <a:solidFill>
                <a:srgbClr val="000000"/>
              </a:solidFill>
              <a:latin typeface="Quicksand"/>
              <a:ea typeface="Quicksand"/>
              <a:cs typeface="Quicksand"/>
              <a:sym typeface="Quicksand"/>
            </a:endParaRPr>
          </a:p>
          <a:p>
            <a:pPr marL="457200" lvl="0" indent="0" algn="l" rtl="0">
              <a:spcBef>
                <a:spcPts val="1200"/>
              </a:spcBef>
              <a:spcAft>
                <a:spcPts val="0"/>
              </a:spcAft>
              <a:buNone/>
            </a:pPr>
            <a:endParaRPr sz="1620" b="1">
              <a:solidFill>
                <a:schemeClr val="dk1"/>
              </a:solidFill>
              <a:latin typeface="Quicksand"/>
              <a:ea typeface="Quicksand"/>
              <a:cs typeface="Quicksand"/>
              <a:sym typeface="Quicksand"/>
            </a:endParaRPr>
          </a:p>
          <a:p>
            <a:pPr marL="0" lvl="0" indent="0" algn="l" rtl="0">
              <a:spcBef>
                <a:spcPts val="1200"/>
              </a:spcBef>
              <a:spcAft>
                <a:spcPts val="1200"/>
              </a:spcAft>
              <a:buNone/>
            </a:pPr>
            <a:endParaRPr/>
          </a:p>
        </p:txBody>
      </p:sp>
      <p:pic>
        <p:nvPicPr>
          <p:cNvPr id="198" name="Google Shape;198;p28"/>
          <p:cNvPicPr preferRelativeResize="0"/>
          <p:nvPr/>
        </p:nvPicPr>
        <p:blipFill>
          <a:blip r:embed="rId4">
            <a:alphaModFix/>
          </a:blip>
          <a:stretch>
            <a:fillRect/>
          </a:stretch>
        </p:blipFill>
        <p:spPr>
          <a:xfrm>
            <a:off x="0" y="0"/>
            <a:ext cx="1350175" cy="1118700"/>
          </a:xfrm>
          <a:prstGeom prst="rect">
            <a:avLst/>
          </a:prstGeom>
          <a:noFill/>
          <a:ln>
            <a:noFill/>
          </a:ln>
        </p:spPr>
      </p:pic>
      <p:sp>
        <p:nvSpPr>
          <p:cNvPr id="199" name="Google Shape;199;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04" name="Google Shape;204;p29"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sp>
        <p:nvSpPr>
          <p:cNvPr id="205" name="Google Shape;205;p29"/>
          <p:cNvSpPr txBox="1">
            <a:spLocks noGrp="1"/>
          </p:cNvSpPr>
          <p:nvPr>
            <p:ph type="title"/>
          </p:nvPr>
        </p:nvSpPr>
        <p:spPr>
          <a:xfrm>
            <a:off x="3170250" y="101125"/>
            <a:ext cx="2803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GB" sz="2620" b="1">
                <a:latin typeface="Quicksand"/>
                <a:ea typeface="Quicksand"/>
                <a:cs typeface="Quicksand"/>
                <a:sym typeface="Quicksand"/>
              </a:rPr>
              <a:t>Methodology</a:t>
            </a:r>
            <a:endParaRPr sz="2620" b="1">
              <a:latin typeface="Quicksand"/>
              <a:ea typeface="Quicksand"/>
              <a:cs typeface="Quicksand"/>
              <a:sym typeface="Quicksand"/>
            </a:endParaRPr>
          </a:p>
        </p:txBody>
      </p:sp>
      <p:pic>
        <p:nvPicPr>
          <p:cNvPr id="206" name="Google Shape;206;p29"/>
          <p:cNvPicPr preferRelativeResize="0"/>
          <p:nvPr/>
        </p:nvPicPr>
        <p:blipFill>
          <a:blip r:embed="rId4">
            <a:alphaModFix/>
          </a:blip>
          <a:stretch>
            <a:fillRect/>
          </a:stretch>
        </p:blipFill>
        <p:spPr>
          <a:xfrm>
            <a:off x="0" y="0"/>
            <a:ext cx="1350175" cy="1118700"/>
          </a:xfrm>
          <a:prstGeom prst="rect">
            <a:avLst/>
          </a:prstGeom>
          <a:noFill/>
          <a:ln>
            <a:noFill/>
          </a:ln>
        </p:spPr>
      </p:pic>
      <p:pic>
        <p:nvPicPr>
          <p:cNvPr id="207" name="Google Shape;207;p29" title="Gemini_Generated_Image_4m71oa4m71oa4m71.png"/>
          <p:cNvPicPr preferRelativeResize="0"/>
          <p:nvPr/>
        </p:nvPicPr>
        <p:blipFill>
          <a:blip r:embed="rId5">
            <a:alphaModFix/>
          </a:blip>
          <a:stretch>
            <a:fillRect/>
          </a:stretch>
        </p:blipFill>
        <p:spPr>
          <a:xfrm>
            <a:off x="2392625" y="594125"/>
            <a:ext cx="4502723" cy="4416977"/>
          </a:xfrm>
          <a:prstGeom prst="rect">
            <a:avLst/>
          </a:prstGeom>
          <a:noFill/>
          <a:ln>
            <a:noFill/>
          </a:ln>
        </p:spPr>
      </p:pic>
      <p:sp>
        <p:nvSpPr>
          <p:cNvPr id="208" name="Google Shape;208;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pic>
        <p:nvPicPr>
          <p:cNvPr id="213" name="Google Shape;213;p30"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sp>
        <p:nvSpPr>
          <p:cNvPr id="214" name="Google Shape;214;p30"/>
          <p:cNvSpPr txBox="1">
            <a:spLocks noGrp="1"/>
          </p:cNvSpPr>
          <p:nvPr>
            <p:ph type="title"/>
          </p:nvPr>
        </p:nvSpPr>
        <p:spPr>
          <a:xfrm>
            <a:off x="3170250" y="101125"/>
            <a:ext cx="2803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GB" sz="2620" b="1">
                <a:latin typeface="Quicksand"/>
                <a:ea typeface="Quicksand"/>
                <a:cs typeface="Quicksand"/>
                <a:sym typeface="Quicksand"/>
              </a:rPr>
              <a:t>Methodology</a:t>
            </a:r>
            <a:endParaRPr sz="2620" b="1">
              <a:latin typeface="Quicksand"/>
              <a:ea typeface="Quicksand"/>
              <a:cs typeface="Quicksand"/>
              <a:sym typeface="Quicksand"/>
            </a:endParaRPr>
          </a:p>
        </p:txBody>
      </p:sp>
      <p:pic>
        <p:nvPicPr>
          <p:cNvPr id="215" name="Google Shape;215;p30"/>
          <p:cNvPicPr preferRelativeResize="0"/>
          <p:nvPr/>
        </p:nvPicPr>
        <p:blipFill>
          <a:blip r:embed="rId4">
            <a:alphaModFix/>
          </a:blip>
          <a:stretch>
            <a:fillRect/>
          </a:stretch>
        </p:blipFill>
        <p:spPr>
          <a:xfrm>
            <a:off x="0" y="0"/>
            <a:ext cx="1350175" cy="1118700"/>
          </a:xfrm>
          <a:prstGeom prst="rect">
            <a:avLst/>
          </a:prstGeom>
          <a:noFill/>
          <a:ln>
            <a:noFill/>
          </a:ln>
        </p:spPr>
      </p:pic>
      <p:sp>
        <p:nvSpPr>
          <p:cNvPr id="216" name="Google Shape;216;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18</a:t>
            </a:fld>
            <a:endParaRPr/>
          </a:p>
        </p:txBody>
      </p:sp>
      <p:pic>
        <p:nvPicPr>
          <p:cNvPr id="217" name="Google Shape;217;p30" title="Screenshot 2026-04-16 040321.png"/>
          <p:cNvPicPr preferRelativeResize="0"/>
          <p:nvPr/>
        </p:nvPicPr>
        <p:blipFill>
          <a:blip r:embed="rId5">
            <a:alphaModFix/>
          </a:blip>
          <a:stretch>
            <a:fillRect/>
          </a:stretch>
        </p:blipFill>
        <p:spPr>
          <a:xfrm>
            <a:off x="152400" y="1271100"/>
            <a:ext cx="8839200" cy="3033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pic>
        <p:nvPicPr>
          <p:cNvPr id="222" name="Google Shape;222;p31"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sp>
        <p:nvSpPr>
          <p:cNvPr id="223" name="Google Shape;223;p31"/>
          <p:cNvSpPr txBox="1">
            <a:spLocks noGrp="1"/>
          </p:cNvSpPr>
          <p:nvPr>
            <p:ph type="title"/>
          </p:nvPr>
        </p:nvSpPr>
        <p:spPr>
          <a:xfrm>
            <a:off x="3170250" y="101125"/>
            <a:ext cx="2803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GB" sz="2620" b="1">
                <a:latin typeface="Quicksand"/>
                <a:ea typeface="Quicksand"/>
                <a:cs typeface="Quicksand"/>
                <a:sym typeface="Quicksand"/>
              </a:rPr>
              <a:t>Methodology</a:t>
            </a:r>
            <a:endParaRPr sz="2620" b="1">
              <a:latin typeface="Quicksand"/>
              <a:ea typeface="Quicksand"/>
              <a:cs typeface="Quicksand"/>
              <a:sym typeface="Quicksand"/>
            </a:endParaRPr>
          </a:p>
        </p:txBody>
      </p:sp>
      <p:pic>
        <p:nvPicPr>
          <p:cNvPr id="224" name="Google Shape;224;p31"/>
          <p:cNvPicPr preferRelativeResize="0"/>
          <p:nvPr/>
        </p:nvPicPr>
        <p:blipFill>
          <a:blip r:embed="rId4">
            <a:alphaModFix/>
          </a:blip>
          <a:stretch>
            <a:fillRect/>
          </a:stretch>
        </p:blipFill>
        <p:spPr>
          <a:xfrm>
            <a:off x="0" y="0"/>
            <a:ext cx="1350175" cy="1118700"/>
          </a:xfrm>
          <a:prstGeom prst="rect">
            <a:avLst/>
          </a:prstGeom>
          <a:noFill/>
          <a:ln>
            <a:noFill/>
          </a:ln>
        </p:spPr>
      </p:pic>
      <p:sp>
        <p:nvSpPr>
          <p:cNvPr id="225" name="Google Shape;225;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19</a:t>
            </a:fld>
            <a:endParaRPr/>
          </a:p>
        </p:txBody>
      </p:sp>
      <p:pic>
        <p:nvPicPr>
          <p:cNvPr id="226" name="Google Shape;226;p31" title="Screenshot 2026-04-16 035934.png"/>
          <p:cNvPicPr preferRelativeResize="0"/>
          <p:nvPr/>
        </p:nvPicPr>
        <p:blipFill>
          <a:blip r:embed="rId5">
            <a:alphaModFix/>
          </a:blip>
          <a:stretch>
            <a:fillRect/>
          </a:stretch>
        </p:blipFill>
        <p:spPr>
          <a:xfrm>
            <a:off x="241050" y="1262525"/>
            <a:ext cx="3841212" cy="2732400"/>
          </a:xfrm>
          <a:prstGeom prst="rect">
            <a:avLst/>
          </a:prstGeom>
          <a:noFill/>
          <a:ln>
            <a:noFill/>
          </a:ln>
        </p:spPr>
      </p:pic>
      <p:pic>
        <p:nvPicPr>
          <p:cNvPr id="227" name="Google Shape;227;p31" title="Screenshot 2026-04-16 040134.png"/>
          <p:cNvPicPr preferRelativeResize="0"/>
          <p:nvPr/>
        </p:nvPicPr>
        <p:blipFill>
          <a:blip r:embed="rId6">
            <a:alphaModFix/>
          </a:blip>
          <a:stretch>
            <a:fillRect/>
          </a:stretch>
        </p:blipFill>
        <p:spPr>
          <a:xfrm>
            <a:off x="4311500" y="1342125"/>
            <a:ext cx="4550362" cy="2652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pic>
        <p:nvPicPr>
          <p:cNvPr id="232" name="Google Shape;232;p32" title="White Yellow and Black Illustrated Education Presentation (1).png"/>
          <p:cNvPicPr preferRelativeResize="0"/>
          <p:nvPr/>
        </p:nvPicPr>
        <p:blipFill rotWithShape="1">
          <a:blip r:embed="rId3">
            <a:alphaModFix amt="51000"/>
          </a:blip>
          <a:srcRect l="17187" t="28669" r="5324" b="28669"/>
          <a:stretch/>
        </p:blipFill>
        <p:spPr>
          <a:xfrm>
            <a:off x="-1" y="1"/>
            <a:ext cx="9144003" cy="5143498"/>
          </a:xfrm>
          <a:prstGeom prst="rect">
            <a:avLst/>
          </a:prstGeom>
          <a:noFill/>
          <a:ln>
            <a:noFill/>
          </a:ln>
        </p:spPr>
      </p:pic>
      <p:sp>
        <p:nvSpPr>
          <p:cNvPr id="233" name="Google Shape;233;p32"/>
          <p:cNvSpPr txBox="1">
            <a:spLocks noGrp="1"/>
          </p:cNvSpPr>
          <p:nvPr>
            <p:ph type="title"/>
          </p:nvPr>
        </p:nvSpPr>
        <p:spPr>
          <a:xfrm>
            <a:off x="3170250" y="101125"/>
            <a:ext cx="2803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GB" sz="2620" b="1">
                <a:latin typeface="Quicksand"/>
                <a:ea typeface="Quicksand"/>
                <a:cs typeface="Quicksand"/>
                <a:sym typeface="Quicksand"/>
              </a:rPr>
              <a:t>Applications</a:t>
            </a:r>
            <a:endParaRPr sz="2620" b="1">
              <a:latin typeface="Quicksand"/>
              <a:ea typeface="Quicksand"/>
              <a:cs typeface="Quicksand"/>
              <a:sym typeface="Quicksand"/>
            </a:endParaRPr>
          </a:p>
        </p:txBody>
      </p:sp>
      <p:pic>
        <p:nvPicPr>
          <p:cNvPr id="234" name="Google Shape;234;p32"/>
          <p:cNvPicPr preferRelativeResize="0"/>
          <p:nvPr/>
        </p:nvPicPr>
        <p:blipFill>
          <a:blip r:embed="rId4">
            <a:alphaModFix/>
          </a:blip>
          <a:stretch>
            <a:fillRect/>
          </a:stretch>
        </p:blipFill>
        <p:spPr>
          <a:xfrm>
            <a:off x="0" y="0"/>
            <a:ext cx="1350175" cy="1118700"/>
          </a:xfrm>
          <a:prstGeom prst="rect">
            <a:avLst/>
          </a:prstGeom>
          <a:noFill/>
          <a:ln>
            <a:noFill/>
          </a:ln>
        </p:spPr>
      </p:pic>
      <p:sp>
        <p:nvSpPr>
          <p:cNvPr id="235" name="Google Shape;235;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20</a:t>
            </a:fld>
            <a:endParaRPr/>
          </a:p>
        </p:txBody>
      </p:sp>
      <p:sp>
        <p:nvSpPr>
          <p:cNvPr id="236" name="Google Shape;236;p32"/>
          <p:cNvSpPr txBox="1"/>
          <p:nvPr/>
        </p:nvSpPr>
        <p:spPr>
          <a:xfrm>
            <a:off x="602700" y="1118688"/>
            <a:ext cx="7938600" cy="3294600"/>
          </a:xfrm>
          <a:prstGeom prst="rect">
            <a:avLst/>
          </a:prstGeom>
          <a:noFill/>
          <a:ln>
            <a:noFill/>
          </a:ln>
        </p:spPr>
        <p:txBody>
          <a:bodyPr spcFirstLastPara="1" wrap="square" lIns="91425" tIns="91425" rIns="91425" bIns="91425" anchor="t" anchorCtr="0">
            <a:noAutofit/>
          </a:bodyPr>
          <a:lstStyle/>
          <a:p>
            <a:pPr marL="457200" marR="0" lvl="0" indent="0" algn="l" rtl="0">
              <a:lnSpc>
                <a:spcPct val="115000"/>
              </a:lnSpc>
              <a:spcBef>
                <a:spcPts val="1200"/>
              </a:spcBef>
              <a:spcAft>
                <a:spcPts val="0"/>
              </a:spcAft>
              <a:buNone/>
            </a:pPr>
            <a:r>
              <a:rPr lang="en-GB" sz="1600" b="1">
                <a:solidFill>
                  <a:schemeClr val="dk1"/>
                </a:solidFill>
                <a:latin typeface="Quicksand"/>
                <a:ea typeface="Quicksand"/>
                <a:cs typeface="Quicksand"/>
                <a:sym typeface="Quicksand"/>
              </a:rPr>
              <a:t>SmartSolar Dashboard Summary:</a:t>
            </a:r>
            <a:endParaRPr sz="1600" b="1">
              <a:solidFill>
                <a:schemeClr val="dk1"/>
              </a:solidFill>
              <a:latin typeface="Quicksand"/>
              <a:ea typeface="Quicksand"/>
              <a:cs typeface="Quicksand"/>
              <a:sym typeface="Quicksand"/>
            </a:endParaRPr>
          </a:p>
          <a:p>
            <a:pPr marL="457200" marR="0" lvl="0" indent="-323850" algn="l" rtl="0">
              <a:lnSpc>
                <a:spcPct val="115000"/>
              </a:lnSpc>
              <a:spcBef>
                <a:spcPts val="1200"/>
              </a:spcBef>
              <a:spcAft>
                <a:spcPts val="0"/>
              </a:spcAft>
              <a:buClr>
                <a:schemeClr val="dk1"/>
              </a:buClr>
              <a:buSzPts val="1500"/>
              <a:buChar char="●"/>
            </a:pPr>
            <a:r>
              <a:rPr lang="en-GB" sz="1500" b="1">
                <a:solidFill>
                  <a:schemeClr val="dk1"/>
                </a:solidFill>
                <a:latin typeface="Quicksand"/>
                <a:ea typeface="Quicksand"/>
                <a:cs typeface="Quicksand"/>
                <a:sym typeface="Quicksand"/>
              </a:rPr>
              <a:t>Core Purpose:</a:t>
            </a:r>
            <a:r>
              <a:rPr lang="en-GB" sz="1500">
                <a:solidFill>
                  <a:schemeClr val="dk1"/>
                </a:solidFill>
                <a:latin typeface="Quicksand"/>
                <a:ea typeface="Quicksand"/>
                <a:cs typeface="Quicksand"/>
                <a:sym typeface="Quicksand"/>
              </a:rPr>
              <a:t> ML-driven dashboard predicting real-world solar output and battery runtime.</a:t>
            </a:r>
            <a:endParaRPr sz="1500">
              <a:solidFill>
                <a:schemeClr val="dk1"/>
              </a:solidFill>
              <a:latin typeface="Quicksand"/>
              <a:ea typeface="Quicksand"/>
              <a:cs typeface="Quicksand"/>
              <a:sym typeface="Quicksand"/>
            </a:endParaRPr>
          </a:p>
          <a:p>
            <a:pPr marL="457200" marR="0" lvl="0" indent="-323850" algn="l" rtl="0">
              <a:lnSpc>
                <a:spcPct val="115000"/>
              </a:lnSpc>
              <a:spcBef>
                <a:spcPts val="0"/>
              </a:spcBef>
              <a:spcAft>
                <a:spcPts val="0"/>
              </a:spcAft>
              <a:buClr>
                <a:schemeClr val="dk1"/>
              </a:buClr>
              <a:buSzPts val="1500"/>
              <a:buChar char="●"/>
            </a:pPr>
            <a:r>
              <a:rPr lang="en-GB" sz="1500" b="1">
                <a:solidFill>
                  <a:schemeClr val="dk1"/>
                </a:solidFill>
                <a:latin typeface="Quicksand"/>
                <a:ea typeface="Quicksand"/>
                <a:cs typeface="Quicksand"/>
                <a:sym typeface="Quicksand"/>
              </a:rPr>
              <a:t>Current Predictions: </a:t>
            </a:r>
            <a:r>
              <a:rPr lang="en-GB" sz="1500">
                <a:solidFill>
                  <a:schemeClr val="dk1"/>
                </a:solidFill>
                <a:latin typeface="Quicksand"/>
                <a:ea typeface="Quicksand"/>
                <a:cs typeface="Quicksand"/>
                <a:sym typeface="Quicksand"/>
              </a:rPr>
              <a:t>Adjusted output and projected backup runtime at specific work load.</a:t>
            </a:r>
            <a:endParaRPr sz="1500">
              <a:solidFill>
                <a:schemeClr val="dk1"/>
              </a:solidFill>
              <a:latin typeface="Quicksand"/>
              <a:ea typeface="Quicksand"/>
              <a:cs typeface="Quicksand"/>
              <a:sym typeface="Quicksand"/>
            </a:endParaRPr>
          </a:p>
          <a:p>
            <a:pPr marL="457200" marR="0" lvl="0" indent="-323850" algn="l" rtl="0">
              <a:lnSpc>
                <a:spcPct val="115000"/>
              </a:lnSpc>
              <a:spcBef>
                <a:spcPts val="0"/>
              </a:spcBef>
              <a:spcAft>
                <a:spcPts val="0"/>
              </a:spcAft>
              <a:buClr>
                <a:schemeClr val="dk1"/>
              </a:buClr>
              <a:buSzPts val="1500"/>
              <a:buChar char="●"/>
            </a:pPr>
            <a:r>
              <a:rPr lang="en-GB" sz="1500" b="1">
                <a:solidFill>
                  <a:schemeClr val="dk1"/>
                </a:solidFill>
                <a:latin typeface="Quicksand"/>
                <a:ea typeface="Quicksand"/>
                <a:cs typeface="Quicksand"/>
                <a:sym typeface="Quicksand"/>
              </a:rPr>
              <a:t>Loss Tracking: </a:t>
            </a:r>
            <a:r>
              <a:rPr lang="en-GB" sz="1500">
                <a:solidFill>
                  <a:schemeClr val="dk1"/>
                </a:solidFill>
                <a:latin typeface="Quicksand"/>
                <a:ea typeface="Quicksand"/>
                <a:cs typeface="Quicksand"/>
                <a:sym typeface="Quicksand"/>
              </a:rPr>
              <a:t>Quantifies real-world losses (e.g., soiling -5%, aging -3%) to bridge the gap between ideal (306 W) and actual performance.</a:t>
            </a:r>
            <a:endParaRPr sz="1500">
              <a:solidFill>
                <a:schemeClr val="dk1"/>
              </a:solidFill>
              <a:latin typeface="Quicksand"/>
              <a:ea typeface="Quicksand"/>
              <a:cs typeface="Quicksand"/>
              <a:sym typeface="Quicksand"/>
            </a:endParaRPr>
          </a:p>
          <a:p>
            <a:pPr marL="457200" marR="0" lvl="0" indent="-323850" algn="l" rtl="0">
              <a:lnSpc>
                <a:spcPct val="115000"/>
              </a:lnSpc>
              <a:spcBef>
                <a:spcPts val="0"/>
              </a:spcBef>
              <a:spcAft>
                <a:spcPts val="0"/>
              </a:spcAft>
              <a:buClr>
                <a:schemeClr val="dk1"/>
              </a:buClr>
              <a:buSzPts val="1500"/>
              <a:buChar char="●"/>
            </a:pPr>
            <a:r>
              <a:rPr lang="en-GB" sz="1500" b="1">
                <a:solidFill>
                  <a:schemeClr val="dk1"/>
                </a:solidFill>
                <a:latin typeface="Quicksand"/>
                <a:ea typeface="Quicksand"/>
                <a:cs typeface="Quicksand"/>
                <a:sym typeface="Quicksand"/>
              </a:rPr>
              <a:t>Model Accuracy: </a:t>
            </a:r>
            <a:r>
              <a:rPr lang="en-GB" sz="1500">
                <a:solidFill>
                  <a:schemeClr val="dk1"/>
                </a:solidFill>
                <a:latin typeface="Quicksand"/>
                <a:ea typeface="Quicksand"/>
                <a:cs typeface="Quicksand"/>
                <a:sym typeface="Quicksand"/>
              </a:rPr>
              <a:t>Uses an "ML Ensemble" prediction by benchmarking algorithms like XGBoost and Random Forest.</a:t>
            </a:r>
            <a:endParaRPr sz="1500">
              <a:solidFill>
                <a:schemeClr val="dk1"/>
              </a:solidFill>
              <a:latin typeface="Quicksand"/>
              <a:ea typeface="Quicksand"/>
              <a:cs typeface="Quicksand"/>
              <a:sym typeface="Quicksand"/>
            </a:endParaRPr>
          </a:p>
          <a:p>
            <a:pPr marL="457200" marR="0" lvl="0" indent="-323850" algn="l" rtl="0">
              <a:lnSpc>
                <a:spcPct val="115000"/>
              </a:lnSpc>
              <a:spcBef>
                <a:spcPts val="0"/>
              </a:spcBef>
              <a:spcAft>
                <a:spcPts val="0"/>
              </a:spcAft>
              <a:buClr>
                <a:schemeClr val="dk1"/>
              </a:buClr>
              <a:buSzPts val="1500"/>
              <a:buChar char="●"/>
            </a:pPr>
            <a:r>
              <a:rPr lang="en-GB" sz="1500" b="1">
                <a:solidFill>
                  <a:schemeClr val="dk1"/>
                </a:solidFill>
                <a:latin typeface="Quicksand"/>
                <a:ea typeface="Quicksand"/>
                <a:cs typeface="Quicksand"/>
                <a:sym typeface="Quicksand"/>
              </a:rPr>
              <a:t>Storage Calculation:</a:t>
            </a:r>
            <a:r>
              <a:rPr lang="en-GB" sz="1500">
                <a:solidFill>
                  <a:schemeClr val="dk1"/>
                </a:solidFill>
                <a:latin typeface="Quicksand"/>
                <a:ea typeface="Quicksand"/>
                <a:cs typeface="Quicksand"/>
                <a:sym typeface="Quicksand"/>
              </a:rPr>
              <a:t> Visually combines daily solar generation and usable battery capacity for total available power</a:t>
            </a:r>
            <a:endParaRPr sz="22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pic>
        <p:nvPicPr>
          <p:cNvPr id="241" name="Google Shape;241;p33"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sp>
        <p:nvSpPr>
          <p:cNvPr id="242" name="Google Shape;242;p33"/>
          <p:cNvSpPr txBox="1">
            <a:spLocks noGrp="1"/>
          </p:cNvSpPr>
          <p:nvPr>
            <p:ph type="title"/>
          </p:nvPr>
        </p:nvSpPr>
        <p:spPr>
          <a:xfrm>
            <a:off x="3170250" y="101125"/>
            <a:ext cx="2803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GB" sz="2620" b="1">
                <a:latin typeface="Quicksand"/>
                <a:ea typeface="Quicksand"/>
                <a:cs typeface="Quicksand"/>
                <a:sym typeface="Quicksand"/>
              </a:rPr>
              <a:t>Applications</a:t>
            </a:r>
            <a:endParaRPr sz="2620" b="1">
              <a:latin typeface="Quicksand"/>
              <a:ea typeface="Quicksand"/>
              <a:cs typeface="Quicksand"/>
              <a:sym typeface="Quicksand"/>
            </a:endParaRPr>
          </a:p>
        </p:txBody>
      </p:sp>
      <p:pic>
        <p:nvPicPr>
          <p:cNvPr id="243" name="Google Shape;243;p33"/>
          <p:cNvPicPr preferRelativeResize="0"/>
          <p:nvPr/>
        </p:nvPicPr>
        <p:blipFill>
          <a:blip r:embed="rId4">
            <a:alphaModFix/>
          </a:blip>
          <a:stretch>
            <a:fillRect/>
          </a:stretch>
        </p:blipFill>
        <p:spPr>
          <a:xfrm>
            <a:off x="0" y="0"/>
            <a:ext cx="1350175" cy="1118700"/>
          </a:xfrm>
          <a:prstGeom prst="rect">
            <a:avLst/>
          </a:prstGeom>
          <a:noFill/>
          <a:ln>
            <a:noFill/>
          </a:ln>
        </p:spPr>
      </p:pic>
      <p:sp>
        <p:nvSpPr>
          <p:cNvPr id="244" name="Google Shape;244;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21</a:t>
            </a:fld>
            <a:endParaRPr/>
          </a:p>
        </p:txBody>
      </p:sp>
      <p:pic>
        <p:nvPicPr>
          <p:cNvPr id="245" name="Google Shape;245;p33"/>
          <p:cNvPicPr preferRelativeResize="0"/>
          <p:nvPr/>
        </p:nvPicPr>
        <p:blipFill>
          <a:blip r:embed="rId5">
            <a:alphaModFix/>
          </a:blip>
          <a:stretch>
            <a:fillRect/>
          </a:stretch>
        </p:blipFill>
        <p:spPr>
          <a:xfrm>
            <a:off x="750050" y="994675"/>
            <a:ext cx="8108670" cy="37200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34"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sp>
        <p:nvSpPr>
          <p:cNvPr id="251" name="Google Shape;251;p34"/>
          <p:cNvSpPr txBox="1">
            <a:spLocks noGrp="1"/>
          </p:cNvSpPr>
          <p:nvPr>
            <p:ph type="title"/>
          </p:nvPr>
        </p:nvSpPr>
        <p:spPr>
          <a:xfrm>
            <a:off x="2479350" y="180750"/>
            <a:ext cx="4185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GB" sz="2620" b="1">
                <a:latin typeface="Quicksand"/>
                <a:ea typeface="Quicksand"/>
                <a:cs typeface="Quicksand"/>
                <a:sym typeface="Quicksand"/>
              </a:rPr>
              <a:t>Future Scopes</a:t>
            </a:r>
            <a:endParaRPr sz="2620" b="1">
              <a:latin typeface="Quicksand"/>
              <a:ea typeface="Quicksand"/>
              <a:cs typeface="Quicksand"/>
              <a:sym typeface="Quicksand"/>
            </a:endParaRPr>
          </a:p>
        </p:txBody>
      </p:sp>
      <p:sp>
        <p:nvSpPr>
          <p:cNvPr id="252" name="Google Shape;252;p34"/>
          <p:cNvSpPr txBox="1">
            <a:spLocks noGrp="1"/>
          </p:cNvSpPr>
          <p:nvPr>
            <p:ph type="body" idx="1"/>
          </p:nvPr>
        </p:nvSpPr>
        <p:spPr>
          <a:xfrm>
            <a:off x="311700" y="1063550"/>
            <a:ext cx="6086400" cy="4017900"/>
          </a:xfrm>
          <a:prstGeom prst="rect">
            <a:avLst/>
          </a:prstGeom>
        </p:spPr>
        <p:txBody>
          <a:bodyPr spcFirstLastPara="1" wrap="square" lIns="91425" tIns="91425" rIns="91425" bIns="91425" anchor="t" anchorCtr="0">
            <a:normAutofit lnSpcReduction="20000"/>
          </a:bodyPr>
          <a:lstStyle/>
          <a:p>
            <a:pPr marL="0" lvl="0" indent="0" algn="l" rtl="0">
              <a:spcBef>
                <a:spcPts val="1400"/>
              </a:spcBef>
              <a:spcAft>
                <a:spcPts val="0"/>
              </a:spcAft>
              <a:buClr>
                <a:schemeClr val="dk1"/>
              </a:buClr>
              <a:buSzPts val="1100"/>
              <a:buFont typeface="Arial"/>
              <a:buNone/>
            </a:pPr>
            <a:r>
              <a:rPr lang="en-GB" sz="1300" b="1">
                <a:solidFill>
                  <a:schemeClr val="dk1"/>
                </a:solidFill>
                <a:latin typeface="Quicksand"/>
                <a:ea typeface="Quicksand"/>
                <a:cs typeface="Quicksand"/>
                <a:sym typeface="Quicksand"/>
              </a:rPr>
              <a:t>1. Real-Time Smart Dashboard </a:t>
            </a:r>
            <a:endParaRPr sz="1300" b="1">
              <a:solidFill>
                <a:schemeClr val="dk1"/>
              </a:solidFill>
              <a:latin typeface="Quicksand"/>
              <a:ea typeface="Quicksand"/>
              <a:cs typeface="Quicksand"/>
              <a:sym typeface="Quicksand"/>
            </a:endParaRPr>
          </a:p>
          <a:p>
            <a:pPr marL="457200" lvl="0" indent="-298450" algn="l" rtl="0">
              <a:spcBef>
                <a:spcPts val="1200"/>
              </a:spcBef>
              <a:spcAft>
                <a:spcPts val="0"/>
              </a:spcAft>
              <a:buClr>
                <a:schemeClr val="dk1"/>
              </a:buClr>
              <a:buSzPts val="1100"/>
              <a:buChar char="●"/>
            </a:pPr>
            <a:r>
              <a:rPr lang="en-GB" sz="1100" b="1">
                <a:solidFill>
                  <a:schemeClr val="dk1"/>
                </a:solidFill>
                <a:latin typeface="Quicksand"/>
                <a:ea typeface="Quicksand"/>
                <a:cs typeface="Quicksand"/>
                <a:sym typeface="Quicksand"/>
              </a:rPr>
              <a:t>Live Energy Monitoring:</a:t>
            </a:r>
            <a:r>
              <a:rPr lang="en-GB" sz="1100">
                <a:solidFill>
                  <a:schemeClr val="dk1"/>
                </a:solidFill>
                <a:latin typeface="Quicksand"/>
                <a:ea typeface="Quicksand"/>
                <a:cs typeface="Quicksand"/>
                <a:sym typeface="Quicksand"/>
              </a:rPr>
              <a:t> View current solar generation and battery levels at a glance through a clean Android interface.</a:t>
            </a:r>
            <a:endParaRPr sz="1100">
              <a:solidFill>
                <a:schemeClr val="dk1"/>
              </a:solidFill>
              <a:latin typeface="Quicksand"/>
              <a:ea typeface="Quicksand"/>
              <a:cs typeface="Quicksand"/>
              <a:sym typeface="Quicksand"/>
            </a:endParaRPr>
          </a:p>
          <a:p>
            <a:pPr marL="457200" lvl="0" indent="-298450" algn="l" rtl="0">
              <a:spcBef>
                <a:spcPts val="0"/>
              </a:spcBef>
              <a:spcAft>
                <a:spcPts val="0"/>
              </a:spcAft>
              <a:buClr>
                <a:schemeClr val="dk1"/>
              </a:buClr>
              <a:buSzPts val="1100"/>
              <a:buChar char="●"/>
            </a:pPr>
            <a:r>
              <a:rPr lang="en-GB" sz="1100" b="1">
                <a:solidFill>
                  <a:schemeClr val="dk1"/>
                </a:solidFill>
                <a:latin typeface="Quicksand"/>
                <a:ea typeface="Quicksand"/>
                <a:cs typeface="Quicksand"/>
                <a:sym typeface="Quicksand"/>
              </a:rPr>
              <a:t>Predictive Countdown:</a:t>
            </a:r>
            <a:r>
              <a:rPr lang="en-GB" sz="1100">
                <a:solidFill>
                  <a:schemeClr val="dk1"/>
                </a:solidFill>
                <a:latin typeface="Quicksand"/>
                <a:ea typeface="Quicksand"/>
                <a:cs typeface="Quicksand"/>
                <a:sym typeface="Quicksand"/>
              </a:rPr>
              <a:t> Replaces complex charts with a simple, actionable timer: </a:t>
            </a:r>
            <a:r>
              <a:rPr lang="en-GB" sz="1100" i="1">
                <a:solidFill>
                  <a:schemeClr val="dk1"/>
                </a:solidFill>
                <a:latin typeface="Quicksand"/>
                <a:ea typeface="Quicksand"/>
                <a:cs typeface="Quicksand"/>
                <a:sym typeface="Quicksand"/>
              </a:rPr>
              <a:t>"5 Hours and 20 Minutes of Backup Remaining."</a:t>
            </a:r>
            <a:endParaRPr sz="1100" i="1">
              <a:solidFill>
                <a:schemeClr val="dk1"/>
              </a:solidFill>
              <a:latin typeface="Quicksand"/>
              <a:ea typeface="Quicksand"/>
              <a:cs typeface="Quicksand"/>
              <a:sym typeface="Quicksand"/>
            </a:endParaRPr>
          </a:p>
          <a:p>
            <a:pPr marL="0" lvl="0" indent="0" algn="l" rtl="0">
              <a:spcBef>
                <a:spcPts val="1400"/>
              </a:spcBef>
              <a:spcAft>
                <a:spcPts val="0"/>
              </a:spcAft>
              <a:buClr>
                <a:schemeClr val="dk1"/>
              </a:buClr>
              <a:buSzPts val="1100"/>
              <a:buFont typeface="Arial"/>
              <a:buNone/>
            </a:pPr>
            <a:r>
              <a:rPr lang="en-GB" sz="1300" b="1">
                <a:solidFill>
                  <a:schemeClr val="dk1"/>
                </a:solidFill>
                <a:latin typeface="Quicksand"/>
                <a:ea typeface="Quicksand"/>
                <a:cs typeface="Quicksand"/>
                <a:sym typeface="Quicksand"/>
              </a:rPr>
              <a:t>2. Intelligent Alert System </a:t>
            </a:r>
            <a:endParaRPr sz="1300" b="1">
              <a:solidFill>
                <a:schemeClr val="dk1"/>
              </a:solidFill>
              <a:latin typeface="Quicksand"/>
              <a:ea typeface="Quicksand"/>
              <a:cs typeface="Quicksand"/>
              <a:sym typeface="Quicksand"/>
            </a:endParaRPr>
          </a:p>
          <a:p>
            <a:pPr marL="457200" lvl="0" indent="-298450" algn="l" rtl="0">
              <a:spcBef>
                <a:spcPts val="1200"/>
              </a:spcBef>
              <a:spcAft>
                <a:spcPts val="0"/>
              </a:spcAft>
              <a:buClr>
                <a:schemeClr val="dk1"/>
              </a:buClr>
              <a:buSzPts val="1100"/>
              <a:buChar char="●"/>
            </a:pPr>
            <a:r>
              <a:rPr lang="en-GB" sz="1100" b="1">
                <a:solidFill>
                  <a:schemeClr val="dk1"/>
                </a:solidFill>
                <a:latin typeface="Quicksand"/>
                <a:ea typeface="Quicksand"/>
                <a:cs typeface="Quicksand"/>
                <a:sym typeface="Quicksand"/>
              </a:rPr>
              <a:t>Load-Shedding Prep:</a:t>
            </a:r>
            <a:r>
              <a:rPr lang="en-GB" sz="1100">
                <a:solidFill>
                  <a:schemeClr val="dk1"/>
                </a:solidFill>
                <a:latin typeface="Quicksand"/>
                <a:ea typeface="Quicksand"/>
                <a:cs typeface="Quicksand"/>
                <a:sym typeface="Quicksand"/>
              </a:rPr>
              <a:t> Sends proactive notifications before scheduled outages, advising users to optimize energy storage.</a:t>
            </a:r>
            <a:endParaRPr sz="1100">
              <a:solidFill>
                <a:schemeClr val="dk1"/>
              </a:solidFill>
              <a:latin typeface="Quicksand"/>
              <a:ea typeface="Quicksand"/>
              <a:cs typeface="Quicksand"/>
              <a:sym typeface="Quicksand"/>
            </a:endParaRPr>
          </a:p>
          <a:p>
            <a:pPr marL="457200" lvl="0" indent="-298450" algn="l" rtl="0">
              <a:spcBef>
                <a:spcPts val="0"/>
              </a:spcBef>
              <a:spcAft>
                <a:spcPts val="0"/>
              </a:spcAft>
              <a:buClr>
                <a:schemeClr val="dk1"/>
              </a:buClr>
              <a:buSzPts val="1100"/>
              <a:buChar char="●"/>
            </a:pPr>
            <a:r>
              <a:rPr lang="en-GB" sz="1100" b="1">
                <a:solidFill>
                  <a:schemeClr val="dk1"/>
                </a:solidFill>
                <a:latin typeface="Quicksand"/>
                <a:ea typeface="Quicksand"/>
                <a:cs typeface="Quicksand"/>
                <a:sym typeface="Quicksand"/>
              </a:rPr>
              <a:t>Dynamic Weather Alerts:</a:t>
            </a:r>
            <a:r>
              <a:rPr lang="en-GB" sz="1100">
                <a:solidFill>
                  <a:schemeClr val="dk1"/>
                </a:solidFill>
                <a:latin typeface="Quicksand"/>
                <a:ea typeface="Quicksand"/>
                <a:cs typeface="Quicksand"/>
                <a:sym typeface="Quicksand"/>
              </a:rPr>
              <a:t> Real-time warnings for sudden environmental changes (e.g., </a:t>
            </a:r>
            <a:r>
              <a:rPr lang="en-GB" sz="1100" i="1">
                <a:solidFill>
                  <a:schemeClr val="dk1"/>
                </a:solidFill>
                <a:latin typeface="Quicksand"/>
                <a:ea typeface="Quicksand"/>
                <a:cs typeface="Quicksand"/>
                <a:sym typeface="Quicksand"/>
              </a:rPr>
              <a:t>"Cloud cover detected; solar output will decrease"</a:t>
            </a:r>
            <a:r>
              <a:rPr lang="en-GB" sz="1100">
                <a:solidFill>
                  <a:schemeClr val="dk1"/>
                </a:solidFill>
                <a:latin typeface="Quicksand"/>
                <a:ea typeface="Quicksand"/>
                <a:cs typeface="Quicksand"/>
                <a:sym typeface="Quicksand"/>
              </a:rPr>
              <a:t>).</a:t>
            </a:r>
            <a:endParaRPr sz="1100">
              <a:solidFill>
                <a:schemeClr val="dk1"/>
              </a:solidFill>
              <a:latin typeface="Quicksand"/>
              <a:ea typeface="Quicksand"/>
              <a:cs typeface="Quicksand"/>
              <a:sym typeface="Quicksand"/>
            </a:endParaRPr>
          </a:p>
          <a:p>
            <a:pPr marL="0" lvl="0" indent="0" algn="l" rtl="0">
              <a:spcBef>
                <a:spcPts val="1400"/>
              </a:spcBef>
              <a:spcAft>
                <a:spcPts val="0"/>
              </a:spcAft>
              <a:buClr>
                <a:schemeClr val="dk1"/>
              </a:buClr>
              <a:buSzPts val="1100"/>
              <a:buFont typeface="Arial"/>
              <a:buNone/>
            </a:pPr>
            <a:r>
              <a:rPr lang="en-GB" sz="1300" b="1">
                <a:solidFill>
                  <a:schemeClr val="dk1"/>
                </a:solidFill>
                <a:latin typeface="Quicksand"/>
                <a:ea typeface="Quicksand"/>
                <a:cs typeface="Quicksand"/>
                <a:sym typeface="Quicksand"/>
              </a:rPr>
              <a:t>3. Personalized Energy Insights </a:t>
            </a:r>
            <a:endParaRPr sz="1300" b="1">
              <a:solidFill>
                <a:schemeClr val="dk1"/>
              </a:solidFill>
              <a:latin typeface="Quicksand"/>
              <a:ea typeface="Quicksand"/>
              <a:cs typeface="Quicksand"/>
              <a:sym typeface="Quicksand"/>
            </a:endParaRPr>
          </a:p>
          <a:p>
            <a:pPr marL="457200" lvl="0" indent="-298450" algn="l" rtl="0">
              <a:spcBef>
                <a:spcPts val="1200"/>
              </a:spcBef>
              <a:spcAft>
                <a:spcPts val="0"/>
              </a:spcAft>
              <a:buClr>
                <a:schemeClr val="dk1"/>
              </a:buClr>
              <a:buSzPts val="1100"/>
              <a:buChar char="●"/>
            </a:pPr>
            <a:r>
              <a:rPr lang="en-GB" sz="1100" b="1">
                <a:solidFill>
                  <a:schemeClr val="dk1"/>
                </a:solidFill>
                <a:latin typeface="Quicksand"/>
                <a:ea typeface="Quicksand"/>
                <a:cs typeface="Quicksand"/>
                <a:sym typeface="Quicksand"/>
              </a:rPr>
              <a:t>Daily Performance Reports:</a:t>
            </a:r>
            <a:r>
              <a:rPr lang="en-GB" sz="1100">
                <a:solidFill>
                  <a:schemeClr val="dk1"/>
                </a:solidFill>
                <a:latin typeface="Quicksand"/>
                <a:ea typeface="Quicksand"/>
                <a:cs typeface="Quicksand"/>
                <a:sym typeface="Quicksand"/>
              </a:rPr>
              <a:t> Visual summaries of energy saved and battery health over the last 24 hours.</a:t>
            </a:r>
            <a:endParaRPr sz="1100">
              <a:solidFill>
                <a:schemeClr val="dk1"/>
              </a:solidFill>
              <a:latin typeface="Quicksand"/>
              <a:ea typeface="Quicksand"/>
              <a:cs typeface="Quicksand"/>
              <a:sym typeface="Quicksand"/>
            </a:endParaRPr>
          </a:p>
          <a:p>
            <a:pPr marL="457200" lvl="0" indent="-298450" algn="l" rtl="0">
              <a:spcBef>
                <a:spcPts val="0"/>
              </a:spcBef>
              <a:spcAft>
                <a:spcPts val="0"/>
              </a:spcAft>
              <a:buClr>
                <a:schemeClr val="dk1"/>
              </a:buClr>
              <a:buSzPts val="1100"/>
              <a:buChar char="●"/>
            </a:pPr>
            <a:r>
              <a:rPr lang="en-GB" sz="1100" b="1">
                <a:solidFill>
                  <a:schemeClr val="dk1"/>
                </a:solidFill>
                <a:latin typeface="Quicksand"/>
                <a:ea typeface="Quicksand"/>
                <a:cs typeface="Quicksand"/>
                <a:sym typeface="Quicksand"/>
              </a:rPr>
              <a:t>Efficiency Recommendations:</a:t>
            </a:r>
            <a:r>
              <a:rPr lang="en-GB" sz="1100">
                <a:solidFill>
                  <a:schemeClr val="dk1"/>
                </a:solidFill>
                <a:latin typeface="Quicksand"/>
                <a:ea typeface="Quicksand"/>
                <a:cs typeface="Quicksand"/>
                <a:sym typeface="Quicksand"/>
              </a:rPr>
              <a:t> Smart tips to extend backup life, such as: </a:t>
            </a:r>
            <a:r>
              <a:rPr lang="en-GB" sz="1100" i="1">
                <a:solidFill>
                  <a:schemeClr val="dk1"/>
                </a:solidFill>
                <a:latin typeface="Quicksand"/>
                <a:ea typeface="Quicksand"/>
                <a:cs typeface="Quicksand"/>
                <a:sym typeface="Quicksand"/>
              </a:rPr>
              <a:t>"Battery at 40%; please delay high-load appliance use."</a:t>
            </a:r>
            <a:endParaRPr sz="1100" i="1">
              <a:solidFill>
                <a:schemeClr val="dk1"/>
              </a:solidFill>
              <a:latin typeface="Quicksand"/>
              <a:ea typeface="Quicksand"/>
              <a:cs typeface="Quicksand"/>
              <a:sym typeface="Quicksand"/>
            </a:endParaRPr>
          </a:p>
          <a:p>
            <a:pPr marL="0" lvl="0" indent="0" algn="l" rtl="0">
              <a:spcBef>
                <a:spcPts val="1200"/>
              </a:spcBef>
              <a:spcAft>
                <a:spcPts val="1200"/>
              </a:spcAft>
              <a:buNone/>
            </a:pPr>
            <a:endParaRPr/>
          </a:p>
        </p:txBody>
      </p:sp>
      <p:pic>
        <p:nvPicPr>
          <p:cNvPr id="253" name="Google Shape;253;p34"/>
          <p:cNvPicPr preferRelativeResize="0"/>
          <p:nvPr/>
        </p:nvPicPr>
        <p:blipFill>
          <a:blip r:embed="rId4">
            <a:alphaModFix/>
          </a:blip>
          <a:stretch>
            <a:fillRect/>
          </a:stretch>
        </p:blipFill>
        <p:spPr>
          <a:xfrm>
            <a:off x="0" y="0"/>
            <a:ext cx="1350175" cy="1118700"/>
          </a:xfrm>
          <a:prstGeom prst="rect">
            <a:avLst/>
          </a:prstGeom>
          <a:noFill/>
          <a:ln>
            <a:noFill/>
          </a:ln>
        </p:spPr>
      </p:pic>
      <p:pic>
        <p:nvPicPr>
          <p:cNvPr id="254" name="Google Shape;254;p34" title="Untitled design.png"/>
          <p:cNvPicPr preferRelativeResize="0"/>
          <p:nvPr/>
        </p:nvPicPr>
        <p:blipFill>
          <a:blip r:embed="rId5">
            <a:alphaModFix/>
          </a:blip>
          <a:stretch>
            <a:fillRect/>
          </a:stretch>
        </p:blipFill>
        <p:spPr>
          <a:xfrm>
            <a:off x="6398100" y="238975"/>
            <a:ext cx="2723895" cy="4842476"/>
          </a:xfrm>
          <a:prstGeom prst="rect">
            <a:avLst/>
          </a:prstGeom>
          <a:noFill/>
          <a:ln>
            <a:noFill/>
          </a:ln>
        </p:spPr>
      </p:pic>
      <p:sp>
        <p:nvSpPr>
          <p:cNvPr id="255" name="Google Shape;255;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pic>
        <p:nvPicPr>
          <p:cNvPr id="260" name="Google Shape;260;p35"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sp>
        <p:nvSpPr>
          <p:cNvPr id="261" name="Google Shape;261;p35"/>
          <p:cNvSpPr txBox="1">
            <a:spLocks noGrp="1"/>
          </p:cNvSpPr>
          <p:nvPr>
            <p:ph type="title"/>
          </p:nvPr>
        </p:nvSpPr>
        <p:spPr>
          <a:xfrm>
            <a:off x="2766900" y="284300"/>
            <a:ext cx="3610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GB" sz="2620" b="1">
                <a:latin typeface="Quicksand"/>
                <a:ea typeface="Quicksand"/>
                <a:cs typeface="Quicksand"/>
                <a:sym typeface="Quicksand"/>
              </a:rPr>
              <a:t>Conclusion</a:t>
            </a:r>
            <a:endParaRPr sz="2620" b="1">
              <a:latin typeface="Quicksand"/>
              <a:ea typeface="Quicksand"/>
              <a:cs typeface="Quicksand"/>
              <a:sym typeface="Quicksand"/>
            </a:endParaRPr>
          </a:p>
        </p:txBody>
      </p:sp>
      <p:sp>
        <p:nvSpPr>
          <p:cNvPr id="262" name="Google Shape;262;p35"/>
          <p:cNvSpPr txBox="1">
            <a:spLocks noGrp="1"/>
          </p:cNvSpPr>
          <p:nvPr>
            <p:ph type="body" idx="1"/>
          </p:nvPr>
        </p:nvSpPr>
        <p:spPr>
          <a:xfrm>
            <a:off x="311700" y="118462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600">
                <a:solidFill>
                  <a:schemeClr val="dk1"/>
                </a:solidFill>
                <a:latin typeface="Quicksand"/>
                <a:ea typeface="Quicksand"/>
                <a:cs typeface="Quicksand"/>
                <a:sym typeface="Quicksand"/>
              </a:rPr>
              <a:t>To wrap things up, this project shows how AI can actually help solve the everyday problem of power cuts in Bangladesh. By combining real solar data from our own East West University campus with NASA's weather tracking, we tested five different AI models to find the absolute best way to predict solar power during unpredictable monsoon weather. The final result of all this testing is the 'SolarPredict' app. This app does the hard math behind the scenes and gives people exactly what they need: a simple countdown timer showing how much battery backup they have left. Ultimately, this project takes high-level data science and turns it into a practical, everyday tool that helps families manage their energy and handle load-shedding with confidence.</a:t>
            </a:r>
            <a:endParaRPr sz="1600">
              <a:solidFill>
                <a:schemeClr val="dk1"/>
              </a:solidFill>
              <a:latin typeface="Quicksand"/>
              <a:ea typeface="Quicksand"/>
              <a:cs typeface="Quicksand"/>
              <a:sym typeface="Quicksand"/>
            </a:endParaRPr>
          </a:p>
        </p:txBody>
      </p:sp>
      <p:pic>
        <p:nvPicPr>
          <p:cNvPr id="263" name="Google Shape;263;p35"/>
          <p:cNvPicPr preferRelativeResize="0"/>
          <p:nvPr/>
        </p:nvPicPr>
        <p:blipFill>
          <a:blip r:embed="rId4">
            <a:alphaModFix/>
          </a:blip>
          <a:stretch>
            <a:fillRect/>
          </a:stretch>
        </p:blipFill>
        <p:spPr>
          <a:xfrm>
            <a:off x="0" y="0"/>
            <a:ext cx="1350175" cy="1118700"/>
          </a:xfrm>
          <a:prstGeom prst="rect">
            <a:avLst/>
          </a:prstGeom>
          <a:noFill/>
          <a:ln>
            <a:noFill/>
          </a:ln>
        </p:spPr>
      </p:pic>
      <p:sp>
        <p:nvSpPr>
          <p:cNvPr id="264" name="Google Shape;264;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pic>
        <p:nvPicPr>
          <p:cNvPr id="269" name="Google Shape;269;p36"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pic>
        <p:nvPicPr>
          <p:cNvPr id="270" name="Google Shape;270;p36" descr="a black and white drawing of a question mark with a circle in the middle . (provided by Tenor)"/>
          <p:cNvPicPr preferRelativeResize="0"/>
          <p:nvPr/>
        </p:nvPicPr>
        <p:blipFill>
          <a:blip r:embed="rId4">
            <a:alphaModFix amt="9000"/>
          </a:blip>
          <a:stretch>
            <a:fillRect/>
          </a:stretch>
        </p:blipFill>
        <p:spPr>
          <a:xfrm>
            <a:off x="1708900" y="-255575"/>
            <a:ext cx="5654651" cy="5654651"/>
          </a:xfrm>
          <a:prstGeom prst="rect">
            <a:avLst/>
          </a:prstGeom>
          <a:noFill/>
          <a:ln>
            <a:noFill/>
          </a:ln>
        </p:spPr>
      </p:pic>
      <p:sp>
        <p:nvSpPr>
          <p:cNvPr id="271" name="Google Shape;271;p36"/>
          <p:cNvSpPr txBox="1">
            <a:spLocks noGrp="1"/>
          </p:cNvSpPr>
          <p:nvPr>
            <p:ph type="title"/>
          </p:nvPr>
        </p:nvSpPr>
        <p:spPr>
          <a:xfrm>
            <a:off x="2523600" y="2001600"/>
            <a:ext cx="4096800" cy="1140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Autofit/>
          </a:bodyPr>
          <a:lstStyle/>
          <a:p>
            <a:pPr marL="0" lvl="0" indent="0" algn="ctr" rtl="0">
              <a:spcBef>
                <a:spcPts val="0"/>
              </a:spcBef>
              <a:spcAft>
                <a:spcPts val="0"/>
              </a:spcAft>
              <a:buNone/>
            </a:pPr>
            <a:r>
              <a:rPr lang="en-GB" sz="5200" b="1">
                <a:latin typeface="Quicksand"/>
                <a:ea typeface="Quicksand"/>
                <a:cs typeface="Quicksand"/>
                <a:sym typeface="Quicksand"/>
              </a:rPr>
              <a:t>Q/A</a:t>
            </a:r>
            <a:endParaRPr sz="5200" b="1">
              <a:latin typeface="Quicksand"/>
              <a:ea typeface="Quicksand"/>
              <a:cs typeface="Quicksand"/>
              <a:sym typeface="Quicksan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pic>
        <p:nvPicPr>
          <p:cNvPr id="276" name="Google Shape;276;p37" title="White Yellow and Black Illustrated Education Presentation (1).png"/>
          <p:cNvPicPr preferRelativeResize="0"/>
          <p:nvPr/>
        </p:nvPicPr>
        <p:blipFill rotWithShape="1">
          <a:blip r:embed="rId3">
            <a:alphaModFix amt="51000"/>
          </a:blip>
          <a:srcRect l="17187" t="29125" r="5324" b="28212"/>
          <a:stretch/>
        </p:blipFill>
        <p:spPr>
          <a:xfrm>
            <a:off x="-1" y="1"/>
            <a:ext cx="9144003" cy="5143498"/>
          </a:xfrm>
          <a:prstGeom prst="rect">
            <a:avLst/>
          </a:prstGeom>
          <a:noFill/>
          <a:ln>
            <a:noFill/>
          </a:ln>
        </p:spPr>
      </p:pic>
      <p:sp>
        <p:nvSpPr>
          <p:cNvPr id="277" name="Google Shape;277;p37"/>
          <p:cNvSpPr txBox="1">
            <a:spLocks noGrp="1"/>
          </p:cNvSpPr>
          <p:nvPr>
            <p:ph type="title"/>
          </p:nvPr>
        </p:nvSpPr>
        <p:spPr>
          <a:xfrm>
            <a:off x="2571775" y="2001600"/>
            <a:ext cx="4096800" cy="1140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Autofit/>
          </a:bodyPr>
          <a:lstStyle/>
          <a:p>
            <a:pPr marL="0" lvl="0" indent="0" algn="ctr" rtl="0">
              <a:spcBef>
                <a:spcPts val="0"/>
              </a:spcBef>
              <a:spcAft>
                <a:spcPts val="0"/>
              </a:spcAft>
              <a:buNone/>
            </a:pPr>
            <a:r>
              <a:rPr lang="en-GB" sz="5200" b="1">
                <a:latin typeface="Quicksand"/>
                <a:ea typeface="Quicksand"/>
                <a:cs typeface="Quicksand"/>
                <a:sym typeface="Quicksand"/>
              </a:rPr>
              <a:t>Thank you!</a:t>
            </a:r>
            <a:endParaRPr sz="5200" b="1">
              <a:latin typeface="Quicksand"/>
              <a:ea typeface="Quicksand"/>
              <a:cs typeface="Quicksand"/>
              <a:sym typeface="Quicksan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1829</Words>
  <Application>Microsoft Office PowerPoint</Application>
  <PresentationFormat>On-screen Show (16:9)</PresentationFormat>
  <Paragraphs>170</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Quicksand</vt:lpstr>
      <vt:lpstr>Quicksand SemiBold</vt:lpstr>
      <vt:lpstr>Arial</vt:lpstr>
      <vt:lpstr>Simple Light</vt:lpstr>
      <vt:lpstr>SmartSolar: Predicting Solar Panel Output and Battery Backup Time Using Machine Learning</vt:lpstr>
      <vt:lpstr>Presented By</vt:lpstr>
      <vt:lpstr>Introduction and Project Definition</vt:lpstr>
      <vt:lpstr>PowerPoint Presentation</vt:lpstr>
      <vt:lpstr>PowerPoint Presentation</vt:lpstr>
      <vt:lpstr>PowerPoint Presentation</vt:lpstr>
      <vt:lpstr>PowerPoint Presentation</vt:lpstr>
      <vt:lpstr>Research Questions</vt:lpstr>
      <vt:lpstr>Project Objectives</vt:lpstr>
      <vt:lpstr>Literature Review</vt:lpstr>
      <vt:lpstr>Literature Review</vt:lpstr>
      <vt:lpstr>PowerPoint Presentation</vt:lpstr>
      <vt:lpstr>Data Collection</vt:lpstr>
      <vt:lpstr>Data Collection</vt:lpstr>
      <vt:lpstr>Methodology</vt:lpstr>
      <vt:lpstr>Methodology</vt:lpstr>
      <vt:lpstr>Methodology</vt:lpstr>
      <vt:lpstr>Methodology</vt:lpstr>
      <vt:lpstr>Methodology</vt:lpstr>
      <vt:lpstr>Applications</vt:lpstr>
      <vt:lpstr>Applications</vt:lpstr>
      <vt:lpstr>Future Scopes</vt:lpstr>
      <vt:lpstr>Conclusion</vt:lpstr>
      <vt:lpstr>Q/A</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Mohammad Sadiullah Ishmam</cp:lastModifiedBy>
  <cp:revision>2</cp:revision>
  <dcterms:modified xsi:type="dcterms:W3CDTF">2026-04-25T18:09:42Z</dcterms:modified>
</cp:coreProperties>
</file>